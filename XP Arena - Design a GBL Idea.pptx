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6ad51c5-cfd2-f72e-3673-11032c162101}">
          <p14:sldIdLst>
            <p14:sldId id="256"/>
          </p14:sldIdLst>
        </p14:section>
        <p14:section name="Learners" id="{c77640d0-b44d-0030-13d5-efe17a94c3c4}">
          <p14:sldIdLst>
            <p14:sldId id="257"/>
            <p14:sldId id="258"/>
          </p14:sldIdLst>
        </p14:section>
        <p14:section name="Game design" id="{68e3c249-d5a4-df38-c2a6-4f66ccc5c412}">
          <p14:sldIdLst>
            <p14:sldId id="259"/>
            <p14:sldId id="260"/>
            <p14:sldId id="261"/>
            <p14:sldId id="262"/>
          </p14:sldIdLst>
        </p14:section>
        <p14:section name="Outcomes" id="{397708f6-9922-7aad-22dd-ef89b856ed47}">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XP Arena: a Quizizz and Kahoot inspired quiz game for learning medical terminology, where points feed into grades and coins buy cosmetics.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basic medical terminology, something we know from our Healthcare Tech courses. The objective has three levels: recall a word part, decode a full term, and apply it to a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Early-year students who will meet medical terms constantly in later courses. Most already play mobile games, so the format feels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take the live quiz format students already know and give the points real value, in grades and in cosmetics.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round fits in about 15 to 20 minutes. The review step is where the learning happens: every answer is followed by the term broken into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currencies on purpose. XP is for grades and is capped so the game supports assessment instead of replacing it. Coins are only for cosmetics, so nobody can buy their way to a better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Customization is the long-term hook. Students keep coming back to earn coins, and every coin they earn came from answering a terminology question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80% figure is our target, not a measured result. We also flag the main weakness of Kahoot-style scoring: rewarding fast clicks over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class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123480"/>
            <a:ext cx="6502400" cy="1219200"/>
          </a:xfrm>
          <a:prstGeom prst="rect">
            <a:avLst/>
          </a:prstGeom>
          <a:noFill/>
          <a:ln/>
        </p:spPr>
        <p:txBody>
          <a:bodyPr wrap="square" rtlCol="0"/>
          <a:lstStyle>
            <a:lvl1pPr algn="l" indent="0" marL="0">
              <a:lnSpc>
                <a:spcPts val="9600"/>
              </a:lnSpc>
              <a:buNone/>
              <a:defRPr lang="en-US" sz="8000" b="1" spc="-200" kern="0" dirty="0">
                <a:solidFill>
                  <a:schemeClr val="tx1"/>
                </a:solidFill>
              </a:defRPr>
            </a:lvl1pPr>
          </a:lstStyle>
          <a:p>
            <a:pPr algn="l" indent="0" marL="0">
              <a:lnSpc>
                <a:spcPts val="9600"/>
              </a:lnSpc>
              <a:buNone/>
            </a:pPr>
            <a:endParaRPr lang="en-US" sz="8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965200"/>
            <a:ext cx="10591800" cy="609600"/>
          </a:xfrm>
          <a:prstGeom prst="rect">
            <a:avLst/>
          </a:prstGeom>
          <a:noFill/>
          <a:ln/>
        </p:spPr>
        <p:txBody>
          <a:bodyPr wrap="square" rtlCol="0"/>
          <a:lstStyle>
            <a:lvl1pPr algn="l" indent="0" marL="0">
              <a:lnSpc>
                <a:spcPts val="4800"/>
              </a:lnSpc>
              <a:buNone/>
              <a:defRPr lang="en-US" sz="4000" b="1" spc="-50" kern="0" dirty="0">
                <a:solidFill>
                  <a:schemeClr val="tx1"/>
                </a:solidFill>
              </a:defRPr>
            </a:lvl1pPr>
          </a:lstStyle>
          <a:p>
            <a:pPr algn="l" indent="0" marL="0">
              <a:lnSpc>
                <a:spcPts val="4800"/>
              </a:lnSpc>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965200"/>
            <a:ext cx="10591800" cy="609600"/>
          </a:xfrm>
          <a:prstGeom prst="rect">
            <a:avLst/>
          </a:prstGeom>
          <a:noFill/>
          <a:ln/>
        </p:spPr>
        <p:txBody>
          <a:bodyPr wrap="square" rtlCol="0"/>
          <a:lstStyle>
            <a:lvl1pPr algn="l" indent="0" marL="0">
              <a:lnSpc>
                <a:spcPts val="4800"/>
              </a:lnSpc>
              <a:buNone/>
              <a:defRPr lang="en-US" sz="4000" b="1" spc="-50" kern="0" dirty="0">
                <a:solidFill>
                  <a:schemeClr val="bg1"/>
                </a:solidFill>
              </a:defRPr>
            </a:lvl1pPr>
          </a:lstStyle>
          <a:p>
            <a:pPr algn="l" indent="0" marL="0">
              <a:lnSpc>
                <a:spcPts val="4800"/>
              </a:lnSpc>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505670"/>
            <a:ext cx="10566400" cy="1219200"/>
          </a:xfrm>
          <a:prstGeom prst="rect">
            <a:avLst/>
          </a:prstGeom>
          <a:noFill/>
          <a:ln/>
        </p:spPr>
        <p:txBody>
          <a:bodyPr wrap="square" rtlCol="0"/>
          <a:lstStyle>
            <a:lvl1pPr algn="ctr" indent="0" marL="0">
              <a:lnSpc>
                <a:spcPts val="9600"/>
              </a:lnSpc>
              <a:buNone/>
              <a:defRPr lang="en-US" sz="8000" b="1" spc="-200" kern="0" dirty="0">
                <a:solidFill>
                  <a:schemeClr val="bg1"/>
                </a:solidFill>
              </a:defRPr>
            </a:lvl1pPr>
          </a:lstStyle>
          <a:p>
            <a:pPr algn="ctr" indent="0" marL="0">
              <a:lnSpc>
                <a:spcPts val="9600"/>
              </a:lnSpc>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text-1"/>
          <p:cNvSpPr txBox="1"/>
          <p:nvPr/>
        </p:nvSpPr>
        <p:spPr>
          <a:xfrm>
            <a:off x="812800" y="812800"/>
            <a:ext cx="6502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accent1"/>
                </a:solidFill>
              </a:rPr>
              <a:t>Class Activity · Design a GBL Idea</a:t>
            </a:r>
            <a:endParaRPr lang="en-US" sz="1800" dirty="0"/>
          </a:p>
        </p:txBody>
      </p:sp>
      <p:sp>
        <p:nvSpPr>
          <p:cNvPr id="3" name="Text 0"/>
          <p:cNvSpPr/>
          <p:nvPr>
            <p:ph idx="100" type="title" hasCustomPrompt="1"/>
          </p:nvPr>
        </p:nvSpPr>
        <p:spPr>
          <a:xfrm>
            <a:off x="812800" y="2123480"/>
            <a:ext cx="6502400" cy="1219200"/>
          </a:xfrm>
          <a:prstGeom prst="rect">
            <a:avLst/>
          </a:prstGeom>
          <a:noFill/>
          <a:ln/>
        </p:spPr>
        <p:txBody>
          <a:bodyPr wrap="square" lIns="0" tIns="0" rIns="0" bIns="0" rtlCol="0" anchor="t"/>
          <a:lstStyle/>
          <a:p>
            <a:pPr algn="l" indent="0" marL="0">
              <a:lnSpc>
                <a:spcPts val="9600"/>
              </a:lnSpc>
              <a:buNone/>
            </a:pPr>
            <a:r>
              <a:rPr lang="en-US" sz="8000" b="1" spc="-200" kern="0" dirty="0">
                <a:solidFill>
                  <a:schemeClr val="tx1"/>
                </a:solidFill>
                <a:latin typeface="+mj-lt" pitchFamily="34" charset="0"/>
                <a:ea typeface="+mj-lt" pitchFamily="34" charset="-122"/>
                <a:cs typeface="+mj-lt" pitchFamily="34" charset="-120"/>
              </a:rPr>
              <a:t>XP Arena</a:t>
            </a:r>
            <a:endParaRPr lang="en-US" sz="8000" dirty="0"/>
          </a:p>
        </p:txBody>
      </p:sp>
      <p:sp>
        <p:nvSpPr>
          <p:cNvPr id="4" name="cover-text-3"/>
          <p:cNvSpPr txBox="1"/>
          <p:nvPr/>
        </p:nvSpPr>
        <p:spPr>
          <a:xfrm>
            <a:off x="812800" y="3545880"/>
            <a:ext cx="6502400" cy="1188541"/>
          </a:xfrm>
          <a:prstGeom prst="rect">
            <a:avLst/>
          </a:prstGeom>
          <a:noFill/>
          <a:ln/>
        </p:spPr>
        <p:txBody>
          <a:bodyPr wrap="square" lIns="0" tIns="0" rIns="0" bIns="0" rtlCol="0" anchor="t"/>
          <a:lstStyle/>
          <a:p>
            <a:pPr algn="l" indent="0" marL="0">
              <a:lnSpc>
                <a:spcPts val="3120"/>
              </a:lnSpc>
              <a:buNone/>
            </a:pPr>
            <a:r>
              <a:rPr lang="en-US" sz="2400" dirty="0">
                <a:solidFill>
                  <a:schemeClr val="tx1"/>
                </a:solidFill>
              </a:rPr>
              <a:t>A live quiz game where every correct answer earns points toward your grade and coins for your avatar.</a:t>
            </a:r>
            <a:endParaRPr lang="en-US" sz="2400" dirty="0"/>
          </a:p>
        </p:txBody>
      </p:sp>
      <p:sp>
        <p:nvSpPr>
          <p:cNvPr id="5" name="cover-text-4"/>
          <p:cNvSpPr txBox="1"/>
          <p:nvPr/>
        </p:nvSpPr>
        <p:spPr>
          <a:xfrm>
            <a:off x="812800" y="5747941"/>
            <a:ext cx="6502400" cy="297160"/>
          </a:xfrm>
          <a:prstGeom prst="rect">
            <a:avLst/>
          </a:prstGeom>
          <a:noFill/>
          <a:ln/>
        </p:spPr>
        <p:txBody>
          <a:bodyPr wrap="square" lIns="0" tIns="0" rIns="0" bIns="0" rtlCol="0" anchor="t"/>
          <a:lstStyle/>
          <a:p>
            <a:pPr algn="l" indent="0" marL="0">
              <a:lnSpc>
                <a:spcPts val="2340"/>
              </a:lnSpc>
              <a:buNone/>
            </a:pPr>
            <a:r>
              <a:rPr lang="en-US" sz="1800" b="1" spc="150" kern="0" dirty="0">
                <a:solidFill>
                  <a:schemeClr val="tx1"/>
                </a:solidFill>
              </a:rPr>
              <a:t>LASALA · JOMOC · DAVID · AUSAN · MAYAM</a:t>
            </a:r>
            <a:endParaRPr lang="en-US" sz="1800" dirty="0"/>
          </a:p>
        </p:txBody>
      </p:sp>
      <p:sp>
        <p:nvSpPr>
          <p:cNvPr id="6" name="cover-shadow-5"/>
          <p:cNvSpPr/>
          <p:nvPr/>
        </p:nvSpPr>
        <p:spPr>
          <a:xfrm>
            <a:off x="7759700" y="2095500"/>
            <a:ext cx="1651000" cy="1270000"/>
          </a:xfrm>
          <a:prstGeom prst="roundRect">
            <a:avLst>
              <a:gd name="adj" fmla="val 4000"/>
            </a:avLst>
          </a:prstGeom>
          <a:solidFill>
            <a:schemeClr val="tx1"/>
          </a:solidFill>
          <a:ln/>
        </p:spPr>
      </p:sp>
      <p:sp>
        <p:nvSpPr>
          <p:cNvPr id="7" name="cover-box-5"/>
          <p:cNvSpPr/>
          <p:nvPr/>
        </p:nvSpPr>
        <p:spPr>
          <a:xfrm>
            <a:off x="7708900" y="2044700"/>
            <a:ext cx="1625600" cy="1244600"/>
          </a:xfrm>
          <a:prstGeom prst="roundRect">
            <a:avLst>
              <a:gd name="adj" fmla="val 3061"/>
            </a:avLst>
          </a:prstGeom>
          <a:solidFill>
            <a:schemeClr val="bg1"/>
          </a:solidFill>
          <a:ln w="25400">
            <a:solidFill>
              <a:schemeClr val="tx1"/>
            </a:solidFill>
            <a:prstDash val="solid"/>
          </a:ln>
        </p:spPr>
      </p:sp>
      <p:sp>
        <p:nvSpPr>
          <p:cNvPr id="8" name="cover-shadow-6"/>
          <p:cNvSpPr/>
          <p:nvPr/>
        </p:nvSpPr>
        <p:spPr>
          <a:xfrm>
            <a:off x="9664700" y="2095500"/>
            <a:ext cx="1651000" cy="1270000"/>
          </a:xfrm>
          <a:prstGeom prst="roundRect">
            <a:avLst>
              <a:gd name="adj" fmla="val 4000"/>
            </a:avLst>
          </a:prstGeom>
          <a:solidFill>
            <a:schemeClr val="tx1"/>
          </a:solidFill>
          <a:ln/>
        </p:spPr>
      </p:sp>
      <p:sp>
        <p:nvSpPr>
          <p:cNvPr id="9" name="cover-box-6"/>
          <p:cNvSpPr/>
          <p:nvPr/>
        </p:nvSpPr>
        <p:spPr>
          <a:xfrm>
            <a:off x="9613900" y="2044700"/>
            <a:ext cx="1625600" cy="1244600"/>
          </a:xfrm>
          <a:prstGeom prst="roundRect">
            <a:avLst>
              <a:gd name="adj" fmla="val 3061"/>
            </a:avLst>
          </a:prstGeom>
          <a:solidFill>
            <a:schemeClr val="accent1"/>
          </a:solidFill>
          <a:ln w="25400">
            <a:solidFill>
              <a:schemeClr val="tx1"/>
            </a:solidFill>
            <a:prstDash val="solid"/>
          </a:ln>
        </p:spPr>
      </p:sp>
      <p:sp>
        <p:nvSpPr>
          <p:cNvPr id="10" name="cover-shadow-7"/>
          <p:cNvSpPr/>
          <p:nvPr/>
        </p:nvSpPr>
        <p:spPr>
          <a:xfrm>
            <a:off x="7759700" y="3619500"/>
            <a:ext cx="1651000" cy="1270000"/>
          </a:xfrm>
          <a:prstGeom prst="roundRect">
            <a:avLst>
              <a:gd name="adj" fmla="val 4000"/>
            </a:avLst>
          </a:prstGeom>
          <a:solidFill>
            <a:schemeClr val="tx1"/>
          </a:solidFill>
          <a:ln/>
        </p:spPr>
      </p:sp>
      <p:sp>
        <p:nvSpPr>
          <p:cNvPr id="11" name="cover-box-7"/>
          <p:cNvSpPr/>
          <p:nvPr/>
        </p:nvSpPr>
        <p:spPr>
          <a:xfrm>
            <a:off x="7708900" y="3568700"/>
            <a:ext cx="1625600" cy="1244600"/>
          </a:xfrm>
          <a:prstGeom prst="roundRect">
            <a:avLst>
              <a:gd name="adj" fmla="val 3061"/>
            </a:avLst>
          </a:prstGeom>
          <a:solidFill>
            <a:schemeClr val="bg1"/>
          </a:solidFill>
          <a:ln w="25400">
            <a:solidFill>
              <a:schemeClr val="tx1"/>
            </a:solidFill>
            <a:prstDash val="solid"/>
          </a:ln>
        </p:spPr>
      </p:sp>
      <p:sp>
        <p:nvSpPr>
          <p:cNvPr id="12" name="cover-shadow-8"/>
          <p:cNvSpPr/>
          <p:nvPr/>
        </p:nvSpPr>
        <p:spPr>
          <a:xfrm>
            <a:off x="9664700" y="3619500"/>
            <a:ext cx="1651000" cy="1270000"/>
          </a:xfrm>
          <a:prstGeom prst="roundRect">
            <a:avLst>
              <a:gd name="adj" fmla="val 4000"/>
            </a:avLst>
          </a:prstGeom>
          <a:solidFill>
            <a:schemeClr val="tx1"/>
          </a:solidFill>
          <a:ln/>
        </p:spPr>
      </p:sp>
      <p:sp>
        <p:nvSpPr>
          <p:cNvPr id="13" name="cover-box-8"/>
          <p:cNvSpPr/>
          <p:nvPr/>
        </p:nvSpPr>
        <p:spPr>
          <a:xfrm>
            <a:off x="9613900" y="3568700"/>
            <a:ext cx="1625600" cy="1244600"/>
          </a:xfrm>
          <a:prstGeom prst="roundRect">
            <a:avLst>
              <a:gd name="adj" fmla="val 3061"/>
            </a:avLst>
          </a:prstGeom>
          <a:solidFill>
            <a:schemeClr val="bg1"/>
          </a:solidFill>
          <a:ln w="254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bjective-text-9"/>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01 · Learning Objective</a:t>
            </a:r>
            <a:endParaRPr lang="en-US" sz="1800" dirty="0"/>
          </a:p>
        </p:txBody>
      </p:sp>
      <p:sp>
        <p:nvSpPr>
          <p:cNvPr id="3" name="objective-fill-10"/>
          <p:cNvSpPr/>
          <p:nvPr/>
        </p:nvSpPr>
        <p:spPr>
          <a:xfrm>
            <a:off x="5715000" y="419100"/>
            <a:ext cx="330200" cy="76200"/>
          </a:xfrm>
          <a:prstGeom prst="roundRect">
            <a:avLst>
              <a:gd name="adj" fmla="val 50000"/>
            </a:avLst>
          </a:prstGeom>
          <a:solidFill>
            <a:schemeClr val="tx1"/>
          </a:solidFill>
          <a:ln/>
        </p:spPr>
      </p:sp>
      <p:sp>
        <p:nvSpPr>
          <p:cNvPr id="4" name="objective-fill-11"/>
          <p:cNvSpPr/>
          <p:nvPr/>
        </p:nvSpPr>
        <p:spPr>
          <a:xfrm>
            <a:off x="6096000" y="419100"/>
            <a:ext cx="330200" cy="76200"/>
          </a:xfrm>
          <a:prstGeom prst="roundRect">
            <a:avLst>
              <a:gd name="adj" fmla="val 50000"/>
            </a:avLst>
          </a:prstGeom>
          <a:solidFill>
            <a:schemeClr val="accent1"/>
          </a:solidFill>
          <a:ln/>
        </p:spPr>
      </p:sp>
      <p:sp>
        <p:nvSpPr>
          <p:cNvPr id="5" name="objective-box-12"/>
          <p:cNvSpPr/>
          <p:nvPr/>
        </p:nvSpPr>
        <p:spPr>
          <a:xfrm>
            <a:off x="6483350" y="425450"/>
            <a:ext cx="342900" cy="63500"/>
          </a:xfrm>
          <a:prstGeom prst="roundRect">
            <a:avLst>
              <a:gd name="adj" fmla="val 50000"/>
            </a:avLst>
          </a:prstGeom>
          <a:ln w="12700">
            <a:solidFill>
              <a:schemeClr val="tx1"/>
            </a:solidFill>
            <a:prstDash val="solid"/>
          </a:ln>
        </p:spPr>
      </p:sp>
      <p:sp>
        <p:nvSpPr>
          <p:cNvPr id="6" name="objective-box-13"/>
          <p:cNvSpPr/>
          <p:nvPr/>
        </p:nvSpPr>
        <p:spPr>
          <a:xfrm>
            <a:off x="6889750" y="425450"/>
            <a:ext cx="342900" cy="63500"/>
          </a:xfrm>
          <a:prstGeom prst="roundRect">
            <a:avLst>
              <a:gd name="adj" fmla="val 50000"/>
            </a:avLst>
          </a:prstGeom>
          <a:ln w="12700">
            <a:solidFill>
              <a:schemeClr val="tx1"/>
            </a:solidFill>
            <a:prstDash val="solid"/>
          </a:ln>
        </p:spPr>
      </p:sp>
      <p:sp>
        <p:nvSpPr>
          <p:cNvPr id="7" name="objective-box-14"/>
          <p:cNvSpPr/>
          <p:nvPr/>
        </p:nvSpPr>
        <p:spPr>
          <a:xfrm>
            <a:off x="7296150" y="425450"/>
            <a:ext cx="342900" cy="63500"/>
          </a:xfrm>
          <a:prstGeom prst="roundRect">
            <a:avLst>
              <a:gd name="adj" fmla="val 50000"/>
            </a:avLst>
          </a:prstGeom>
          <a:ln w="12700">
            <a:solidFill>
              <a:schemeClr val="tx1"/>
            </a:solidFill>
            <a:prstDash val="solid"/>
          </a:ln>
        </p:spPr>
      </p:sp>
      <p:sp>
        <p:nvSpPr>
          <p:cNvPr id="8" name="objective-box-15"/>
          <p:cNvSpPr/>
          <p:nvPr/>
        </p:nvSpPr>
        <p:spPr>
          <a:xfrm>
            <a:off x="7702550" y="425450"/>
            <a:ext cx="342900" cy="63500"/>
          </a:xfrm>
          <a:prstGeom prst="roundRect">
            <a:avLst>
              <a:gd name="adj" fmla="val 50000"/>
            </a:avLst>
          </a:prstGeom>
          <a:ln w="12700">
            <a:solidFill>
              <a:schemeClr val="tx1"/>
            </a:solidFill>
            <a:prstDash val="solid"/>
          </a:ln>
        </p:spPr>
      </p:sp>
      <p:sp>
        <p:nvSpPr>
          <p:cNvPr id="9" name="objective-box-16"/>
          <p:cNvSpPr/>
          <p:nvPr/>
        </p:nvSpPr>
        <p:spPr>
          <a:xfrm>
            <a:off x="8108950" y="425450"/>
            <a:ext cx="342900" cy="63500"/>
          </a:xfrm>
          <a:prstGeom prst="roundRect">
            <a:avLst>
              <a:gd name="adj" fmla="val 50000"/>
            </a:avLst>
          </a:prstGeom>
          <a:ln w="12700">
            <a:solidFill>
              <a:schemeClr val="tx1"/>
            </a:solidFill>
            <a:prstDash val="solid"/>
          </a:ln>
        </p:spPr>
      </p:sp>
      <p:sp>
        <p:nvSpPr>
          <p:cNvPr id="10" name="objective-box-17"/>
          <p:cNvSpPr/>
          <p:nvPr/>
        </p:nvSpPr>
        <p:spPr>
          <a:xfrm>
            <a:off x="8515350" y="425450"/>
            <a:ext cx="342900" cy="63500"/>
          </a:xfrm>
          <a:prstGeom prst="roundRect">
            <a:avLst>
              <a:gd name="adj" fmla="val 50000"/>
            </a:avLst>
          </a:prstGeom>
          <a:ln w="12700">
            <a:solidFill>
              <a:schemeClr val="tx1"/>
            </a:solidFill>
            <a:prstDash val="solid"/>
          </a:ln>
        </p:spPr>
      </p:sp>
      <p:sp>
        <p:nvSpPr>
          <p:cNvPr id="11" name="objective-box-18"/>
          <p:cNvSpPr/>
          <p:nvPr/>
        </p:nvSpPr>
        <p:spPr>
          <a:xfrm>
            <a:off x="8921750" y="425450"/>
            <a:ext cx="342900" cy="63500"/>
          </a:xfrm>
          <a:prstGeom prst="roundRect">
            <a:avLst>
              <a:gd name="adj" fmla="val 50000"/>
            </a:avLst>
          </a:prstGeom>
          <a:ln w="12700">
            <a:solidFill>
              <a:schemeClr val="tx1"/>
            </a:solidFill>
            <a:prstDash val="solid"/>
          </a:ln>
        </p:spPr>
      </p:sp>
      <p:sp>
        <p:nvSpPr>
          <p:cNvPr id="12" name="objective-text-19"/>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02</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What learners should be able to do</a:t>
            </a:r>
            <a:endParaRPr lang="en-US" sz="4000" dirty="0"/>
          </a:p>
        </p:txBody>
      </p:sp>
      <p:sp>
        <p:nvSpPr>
          <p:cNvPr id="14" name="objective-text-21"/>
          <p:cNvSpPr txBox="1"/>
          <p:nvPr/>
        </p:nvSpPr>
        <p:spPr>
          <a:xfrm>
            <a:off x="812800" y="1930400"/>
            <a:ext cx="10591800" cy="1188541"/>
          </a:xfrm>
          <a:prstGeom prst="rect">
            <a:avLst/>
          </a:prstGeom>
          <a:noFill/>
          <a:ln/>
        </p:spPr>
        <p:txBody>
          <a:bodyPr wrap="square" lIns="0" tIns="0" rIns="0" bIns="0" rtlCol="0" anchor="t"/>
          <a:lstStyle/>
          <a:p>
            <a:pPr algn="l" indent="0" marL="0">
              <a:lnSpc>
                <a:spcPts val="3120"/>
              </a:lnSpc>
              <a:buNone/>
            </a:pPr>
            <a:r>
              <a:rPr lang="en-US" sz="2400" dirty="0">
                <a:solidFill>
                  <a:schemeClr val="tx1"/>
                </a:solidFill>
              </a:rPr>
              <a:t>By the end of a session, learners can define common </a:t>
            </a:r>
            <a:pPr algn="l" indent="0" marL="0">
              <a:lnSpc>
                <a:spcPts val="3120"/>
              </a:lnSpc>
              <a:buNone/>
            </a:pPr>
            <a:r>
              <a:rPr lang="en-US" sz="2400" dirty="0">
                <a:solidFill>
                  <a:schemeClr val="accent1"/>
                </a:solidFill>
              </a:rPr>
              <a:t>medical prefixes, suffixes and root words</a:t>
            </a:r>
            <a:pPr algn="l" indent="0" marL="0">
              <a:lnSpc>
                <a:spcPts val="3120"/>
              </a:lnSpc>
              <a:buNone/>
            </a:pPr>
            <a:r>
              <a:rPr lang="en-US" sz="2400" dirty="0">
                <a:solidFill>
                  <a:schemeClr val="tx1"/>
                </a:solidFill>
              </a:rPr>
              <a:t> and break an unfamiliar term into its parts to work out its meaning.</a:t>
            </a:r>
            <a:endParaRPr lang="en-US" sz="2400" dirty="0"/>
          </a:p>
        </p:txBody>
      </p:sp>
      <p:sp>
        <p:nvSpPr>
          <p:cNvPr id="15" name="objective-rule-22"/>
          <p:cNvSpPr/>
          <p:nvPr/>
        </p:nvSpPr>
        <p:spPr>
          <a:xfrm>
            <a:off x="812800" y="3779341"/>
            <a:ext cx="3318966" cy="25400"/>
          </a:xfrm>
          <a:prstGeom prst="rect">
            <a:avLst/>
          </a:prstGeom>
          <a:solidFill>
            <a:schemeClr val="tx1"/>
          </a:solidFill>
          <a:ln/>
        </p:spPr>
      </p:sp>
      <p:sp>
        <p:nvSpPr>
          <p:cNvPr id="16" name="objective-text-23"/>
          <p:cNvSpPr txBox="1"/>
          <p:nvPr/>
        </p:nvSpPr>
        <p:spPr>
          <a:xfrm>
            <a:off x="812800" y="3957141"/>
            <a:ext cx="3344366"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Recall</a:t>
            </a:r>
            <a:endParaRPr lang="en-US" sz="2400" dirty="0"/>
          </a:p>
        </p:txBody>
      </p:sp>
      <p:sp>
        <p:nvSpPr>
          <p:cNvPr id="17" name="objective-text-24"/>
          <p:cNvSpPr txBox="1"/>
          <p:nvPr/>
        </p:nvSpPr>
        <p:spPr>
          <a:xfrm>
            <a:off x="812800" y="4399062"/>
            <a:ext cx="3344366"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Name the meaning of a word part, like cardi- = heart.</a:t>
            </a:r>
            <a:endParaRPr lang="en-US" sz="1800" dirty="0"/>
          </a:p>
        </p:txBody>
      </p:sp>
      <p:sp>
        <p:nvSpPr>
          <p:cNvPr id="18" name="objective-rule-25"/>
          <p:cNvSpPr/>
          <p:nvPr/>
        </p:nvSpPr>
        <p:spPr>
          <a:xfrm>
            <a:off x="4436566" y="3779341"/>
            <a:ext cx="3318966" cy="25400"/>
          </a:xfrm>
          <a:prstGeom prst="rect">
            <a:avLst/>
          </a:prstGeom>
          <a:solidFill>
            <a:schemeClr val="tx1"/>
          </a:solidFill>
          <a:ln/>
        </p:spPr>
      </p:sp>
      <p:sp>
        <p:nvSpPr>
          <p:cNvPr id="19" name="objective-text-26"/>
          <p:cNvSpPr txBox="1"/>
          <p:nvPr/>
        </p:nvSpPr>
        <p:spPr>
          <a:xfrm>
            <a:off x="4436566" y="3957141"/>
            <a:ext cx="3344366"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Decode</a:t>
            </a:r>
            <a:endParaRPr lang="en-US" sz="2400" dirty="0"/>
          </a:p>
        </p:txBody>
      </p:sp>
      <p:sp>
        <p:nvSpPr>
          <p:cNvPr id="20" name="objective-text-27"/>
          <p:cNvSpPr txBox="1"/>
          <p:nvPr/>
        </p:nvSpPr>
        <p:spPr>
          <a:xfrm>
            <a:off x="4436566" y="4399062"/>
            <a:ext cx="3344366"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Split a full term, like gastr + itis = stomach inflammation.</a:t>
            </a:r>
            <a:endParaRPr lang="en-US" sz="1800" dirty="0"/>
          </a:p>
        </p:txBody>
      </p:sp>
      <p:sp>
        <p:nvSpPr>
          <p:cNvPr id="21" name="objective-rule-28"/>
          <p:cNvSpPr/>
          <p:nvPr/>
        </p:nvSpPr>
        <p:spPr>
          <a:xfrm>
            <a:off x="8060333" y="3779341"/>
            <a:ext cx="3318966" cy="25400"/>
          </a:xfrm>
          <a:prstGeom prst="rect">
            <a:avLst/>
          </a:prstGeom>
          <a:solidFill>
            <a:schemeClr val="tx1"/>
          </a:solidFill>
          <a:ln/>
        </p:spPr>
      </p:sp>
      <p:sp>
        <p:nvSpPr>
          <p:cNvPr id="22" name="objective-text-29"/>
          <p:cNvSpPr txBox="1"/>
          <p:nvPr/>
        </p:nvSpPr>
        <p:spPr>
          <a:xfrm>
            <a:off x="8060333" y="3957141"/>
            <a:ext cx="3344366"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Apply</a:t>
            </a:r>
            <a:endParaRPr lang="en-US" sz="2400" dirty="0"/>
          </a:p>
        </p:txBody>
      </p:sp>
      <p:sp>
        <p:nvSpPr>
          <p:cNvPr id="23" name="objective-text-30"/>
          <p:cNvSpPr txBox="1"/>
          <p:nvPr/>
        </p:nvSpPr>
        <p:spPr>
          <a:xfrm>
            <a:off x="8060333" y="4399062"/>
            <a:ext cx="3344366"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Pick the right term for a short patient scenario.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learners-text-31"/>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02 · Target Learners</a:t>
            </a:r>
            <a:endParaRPr lang="en-US" sz="1800" dirty="0"/>
          </a:p>
        </p:txBody>
      </p:sp>
      <p:sp>
        <p:nvSpPr>
          <p:cNvPr id="3" name="learners-fill-32"/>
          <p:cNvSpPr/>
          <p:nvPr/>
        </p:nvSpPr>
        <p:spPr>
          <a:xfrm>
            <a:off x="5715000" y="419100"/>
            <a:ext cx="332978" cy="76200"/>
          </a:xfrm>
          <a:prstGeom prst="roundRect">
            <a:avLst>
              <a:gd name="adj" fmla="val 50000"/>
            </a:avLst>
          </a:prstGeom>
          <a:solidFill>
            <a:schemeClr val="tx1"/>
          </a:solidFill>
          <a:ln/>
        </p:spPr>
      </p:sp>
      <p:sp>
        <p:nvSpPr>
          <p:cNvPr id="4" name="learners-fill-33"/>
          <p:cNvSpPr/>
          <p:nvPr/>
        </p:nvSpPr>
        <p:spPr>
          <a:xfrm>
            <a:off x="6098778" y="419100"/>
            <a:ext cx="332978" cy="76200"/>
          </a:xfrm>
          <a:prstGeom prst="roundRect">
            <a:avLst>
              <a:gd name="adj" fmla="val 50000"/>
            </a:avLst>
          </a:prstGeom>
          <a:solidFill>
            <a:schemeClr val="tx1"/>
          </a:solidFill>
          <a:ln/>
        </p:spPr>
      </p:sp>
      <p:sp>
        <p:nvSpPr>
          <p:cNvPr id="5" name="learners-fill-34"/>
          <p:cNvSpPr/>
          <p:nvPr/>
        </p:nvSpPr>
        <p:spPr>
          <a:xfrm>
            <a:off x="6482556" y="419100"/>
            <a:ext cx="332978" cy="76200"/>
          </a:xfrm>
          <a:prstGeom prst="roundRect">
            <a:avLst>
              <a:gd name="adj" fmla="val 50000"/>
            </a:avLst>
          </a:prstGeom>
          <a:solidFill>
            <a:schemeClr val="accent1"/>
          </a:solidFill>
          <a:ln/>
        </p:spPr>
      </p:sp>
      <p:sp>
        <p:nvSpPr>
          <p:cNvPr id="6" name="learners-box-35"/>
          <p:cNvSpPr/>
          <p:nvPr/>
        </p:nvSpPr>
        <p:spPr>
          <a:xfrm>
            <a:off x="6872684" y="425450"/>
            <a:ext cx="345678" cy="63500"/>
          </a:xfrm>
          <a:prstGeom prst="roundRect">
            <a:avLst>
              <a:gd name="adj" fmla="val 50000"/>
            </a:avLst>
          </a:prstGeom>
          <a:ln w="12700">
            <a:solidFill>
              <a:schemeClr val="tx1"/>
            </a:solidFill>
            <a:prstDash val="solid"/>
          </a:ln>
        </p:spPr>
      </p:sp>
      <p:sp>
        <p:nvSpPr>
          <p:cNvPr id="7" name="learners-box-36"/>
          <p:cNvSpPr/>
          <p:nvPr/>
        </p:nvSpPr>
        <p:spPr>
          <a:xfrm>
            <a:off x="7281863" y="425450"/>
            <a:ext cx="345678" cy="63500"/>
          </a:xfrm>
          <a:prstGeom prst="roundRect">
            <a:avLst>
              <a:gd name="adj" fmla="val 50000"/>
            </a:avLst>
          </a:prstGeom>
          <a:ln w="12700">
            <a:solidFill>
              <a:schemeClr val="tx1"/>
            </a:solidFill>
            <a:prstDash val="solid"/>
          </a:ln>
        </p:spPr>
      </p:sp>
      <p:sp>
        <p:nvSpPr>
          <p:cNvPr id="8" name="learners-box-37"/>
          <p:cNvSpPr/>
          <p:nvPr/>
        </p:nvSpPr>
        <p:spPr>
          <a:xfrm>
            <a:off x="7691041" y="425450"/>
            <a:ext cx="345678" cy="63500"/>
          </a:xfrm>
          <a:prstGeom prst="roundRect">
            <a:avLst>
              <a:gd name="adj" fmla="val 50000"/>
            </a:avLst>
          </a:prstGeom>
          <a:ln w="12700">
            <a:solidFill>
              <a:schemeClr val="tx1"/>
            </a:solidFill>
            <a:prstDash val="solid"/>
          </a:ln>
        </p:spPr>
      </p:sp>
      <p:sp>
        <p:nvSpPr>
          <p:cNvPr id="9" name="learners-box-38"/>
          <p:cNvSpPr/>
          <p:nvPr/>
        </p:nvSpPr>
        <p:spPr>
          <a:xfrm>
            <a:off x="8100219" y="425450"/>
            <a:ext cx="345678" cy="63500"/>
          </a:xfrm>
          <a:prstGeom prst="roundRect">
            <a:avLst>
              <a:gd name="adj" fmla="val 50000"/>
            </a:avLst>
          </a:prstGeom>
          <a:ln w="12700">
            <a:solidFill>
              <a:schemeClr val="tx1"/>
            </a:solidFill>
            <a:prstDash val="solid"/>
          </a:ln>
        </p:spPr>
      </p:sp>
      <p:sp>
        <p:nvSpPr>
          <p:cNvPr id="10" name="learners-box-39"/>
          <p:cNvSpPr/>
          <p:nvPr/>
        </p:nvSpPr>
        <p:spPr>
          <a:xfrm>
            <a:off x="8509397" y="425450"/>
            <a:ext cx="345678" cy="63500"/>
          </a:xfrm>
          <a:prstGeom prst="roundRect">
            <a:avLst>
              <a:gd name="adj" fmla="val 50000"/>
            </a:avLst>
          </a:prstGeom>
          <a:ln w="12700">
            <a:solidFill>
              <a:schemeClr val="tx1"/>
            </a:solidFill>
            <a:prstDash val="solid"/>
          </a:ln>
        </p:spPr>
      </p:sp>
      <p:sp>
        <p:nvSpPr>
          <p:cNvPr id="11" name="learners-box-40"/>
          <p:cNvSpPr/>
          <p:nvPr/>
        </p:nvSpPr>
        <p:spPr>
          <a:xfrm>
            <a:off x="8918575" y="425450"/>
            <a:ext cx="345678" cy="63500"/>
          </a:xfrm>
          <a:prstGeom prst="roundRect">
            <a:avLst>
              <a:gd name="adj" fmla="val 50000"/>
            </a:avLst>
          </a:prstGeom>
          <a:ln w="12700">
            <a:solidFill>
              <a:schemeClr val="tx1"/>
            </a:solidFill>
            <a:prstDash val="solid"/>
          </a:ln>
        </p:spPr>
      </p:sp>
      <p:sp>
        <p:nvSpPr>
          <p:cNvPr id="12" name="learners-text-41"/>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03</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Who the game is for</a:t>
            </a:r>
            <a:endParaRPr lang="en-US" sz="4000" dirty="0"/>
          </a:p>
        </p:txBody>
      </p:sp>
      <p:sp>
        <p:nvSpPr>
          <p:cNvPr id="14" name="learners-rule-43"/>
          <p:cNvSpPr/>
          <p:nvPr/>
        </p:nvSpPr>
        <p:spPr>
          <a:xfrm>
            <a:off x="812800" y="1930400"/>
            <a:ext cx="10566400" cy="25400"/>
          </a:xfrm>
          <a:prstGeom prst="rect">
            <a:avLst/>
          </a:prstGeom>
          <a:solidFill>
            <a:schemeClr val="tx1"/>
          </a:solidFill>
          <a:ln/>
        </p:spPr>
      </p:sp>
      <p:sp>
        <p:nvSpPr>
          <p:cNvPr id="15" name="learners-rule-44"/>
          <p:cNvSpPr/>
          <p:nvPr/>
        </p:nvSpPr>
        <p:spPr>
          <a:xfrm>
            <a:off x="812800" y="3327400"/>
            <a:ext cx="10566400" cy="25400"/>
          </a:xfrm>
          <a:prstGeom prst="rect">
            <a:avLst/>
          </a:prstGeom>
          <a:solidFill>
            <a:schemeClr val="tx1"/>
          </a:solidFill>
          <a:ln/>
        </p:spPr>
      </p:sp>
      <p:sp>
        <p:nvSpPr>
          <p:cNvPr id="16" name="learners-text-45"/>
          <p:cNvSpPr txBox="1"/>
          <p:nvPr/>
        </p:nvSpPr>
        <p:spPr>
          <a:xfrm>
            <a:off x="812800" y="2458740"/>
            <a:ext cx="2565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Who</a:t>
            </a:r>
            <a:endParaRPr lang="en-US" sz="2400" dirty="0"/>
          </a:p>
        </p:txBody>
      </p:sp>
      <p:sp>
        <p:nvSpPr>
          <p:cNvPr id="17" name="learners-text-46"/>
          <p:cNvSpPr txBox="1"/>
          <p:nvPr/>
        </p:nvSpPr>
        <p:spPr>
          <a:xfrm>
            <a:off x="3657600" y="2487315"/>
            <a:ext cx="7747000" cy="308570"/>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1st and 2nd year Healthcare Tech, nursing and allied health students.</a:t>
            </a:r>
            <a:endParaRPr lang="en-US" sz="1800" dirty="0"/>
          </a:p>
        </p:txBody>
      </p:sp>
      <p:sp>
        <p:nvSpPr>
          <p:cNvPr id="18" name="learners-rule-47"/>
          <p:cNvSpPr/>
          <p:nvPr/>
        </p:nvSpPr>
        <p:spPr>
          <a:xfrm>
            <a:off x="812800" y="4724400"/>
            <a:ext cx="10566400" cy="25400"/>
          </a:xfrm>
          <a:prstGeom prst="rect">
            <a:avLst/>
          </a:prstGeom>
          <a:solidFill>
            <a:schemeClr val="tx1"/>
          </a:solidFill>
          <a:ln/>
        </p:spPr>
      </p:sp>
      <p:sp>
        <p:nvSpPr>
          <p:cNvPr id="19" name="learners-text-48"/>
          <p:cNvSpPr txBox="1"/>
          <p:nvPr/>
        </p:nvSpPr>
        <p:spPr>
          <a:xfrm>
            <a:off x="812800" y="3855740"/>
            <a:ext cx="2565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Setting</a:t>
            </a:r>
            <a:endParaRPr lang="en-US" sz="2400" dirty="0"/>
          </a:p>
        </p:txBody>
      </p:sp>
      <p:sp>
        <p:nvSpPr>
          <p:cNvPr id="20" name="learners-text-49"/>
          <p:cNvSpPr txBox="1"/>
          <p:nvPr/>
        </p:nvSpPr>
        <p:spPr>
          <a:xfrm>
            <a:off x="3657600" y="3730030"/>
            <a:ext cx="55372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A class of 20 to 45, each on a phone or laptop, with the teacher hosting on the projector.</a:t>
            </a:r>
            <a:endParaRPr lang="en-US" sz="1800" dirty="0"/>
          </a:p>
        </p:txBody>
      </p:sp>
      <p:sp>
        <p:nvSpPr>
          <p:cNvPr id="21" name="learners-text-50"/>
          <p:cNvSpPr txBox="1"/>
          <p:nvPr/>
        </p:nvSpPr>
        <p:spPr>
          <a:xfrm>
            <a:off x="9448800" y="3733800"/>
            <a:ext cx="1930400" cy="609600"/>
          </a:xfrm>
          <a:prstGeom prst="rect">
            <a:avLst/>
          </a:prstGeom>
          <a:noFill/>
          <a:ln/>
        </p:spPr>
        <p:txBody>
          <a:bodyPr wrap="none" lIns="0" tIns="0" rIns="0" bIns="0" rtlCol="0" anchor="t"/>
          <a:lstStyle/>
          <a:p>
            <a:pPr algn="r" indent="0" marL="0">
              <a:lnSpc>
                <a:spcPts val="4800"/>
              </a:lnSpc>
              <a:buNone/>
            </a:pPr>
            <a:r>
              <a:rPr lang="en-US" sz="4000" b="1" dirty="0">
                <a:solidFill>
                  <a:schemeClr val="accent1"/>
                </a:solidFill>
                <a:latin typeface="+mj-lt" pitchFamily="34" charset="0"/>
                <a:ea typeface="+mj-lt" pitchFamily="34" charset="-122"/>
                <a:cs typeface="+mj-lt" pitchFamily="34" charset="-120"/>
              </a:rPr>
              <a:t>20–45</a:t>
            </a:r>
            <a:endParaRPr lang="en-US" sz="4000" dirty="0"/>
          </a:p>
        </p:txBody>
      </p:sp>
      <p:sp>
        <p:nvSpPr>
          <p:cNvPr id="22" name="learners-rule-51"/>
          <p:cNvSpPr/>
          <p:nvPr/>
        </p:nvSpPr>
        <p:spPr>
          <a:xfrm>
            <a:off x="812800" y="6121400"/>
            <a:ext cx="10566400" cy="25400"/>
          </a:xfrm>
          <a:prstGeom prst="rect">
            <a:avLst/>
          </a:prstGeom>
          <a:solidFill>
            <a:schemeClr val="tx1"/>
          </a:solidFill>
          <a:ln/>
        </p:spPr>
      </p:sp>
      <p:sp>
        <p:nvSpPr>
          <p:cNvPr id="23" name="learners-text-52"/>
          <p:cNvSpPr txBox="1"/>
          <p:nvPr/>
        </p:nvSpPr>
        <p:spPr>
          <a:xfrm>
            <a:off x="812800" y="5252740"/>
            <a:ext cx="2565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Starting point</a:t>
            </a:r>
            <a:endParaRPr lang="en-US" sz="2400" dirty="0"/>
          </a:p>
        </p:txBody>
      </p:sp>
      <p:sp>
        <p:nvSpPr>
          <p:cNvPr id="24" name="learners-text-53"/>
          <p:cNvSpPr txBox="1"/>
          <p:nvPr/>
        </p:nvSpPr>
        <p:spPr>
          <a:xfrm>
            <a:off x="3657600" y="5281315"/>
            <a:ext cx="7747000" cy="308570"/>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Basic biology. No prior medical vocabulary needed.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oncept-text-54"/>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03 · Game Concept</a:t>
            </a:r>
            <a:endParaRPr lang="en-US" sz="1800" dirty="0"/>
          </a:p>
        </p:txBody>
      </p:sp>
      <p:sp>
        <p:nvSpPr>
          <p:cNvPr id="3" name="concept-fill-55"/>
          <p:cNvSpPr/>
          <p:nvPr/>
        </p:nvSpPr>
        <p:spPr>
          <a:xfrm>
            <a:off x="5715000" y="419100"/>
            <a:ext cx="335855" cy="76200"/>
          </a:xfrm>
          <a:prstGeom prst="roundRect">
            <a:avLst>
              <a:gd name="adj" fmla="val 50000"/>
            </a:avLst>
          </a:prstGeom>
          <a:solidFill>
            <a:schemeClr val="tx1"/>
          </a:solidFill>
          <a:ln/>
        </p:spPr>
      </p:sp>
      <p:sp>
        <p:nvSpPr>
          <p:cNvPr id="4" name="concept-fill-56"/>
          <p:cNvSpPr/>
          <p:nvPr/>
        </p:nvSpPr>
        <p:spPr>
          <a:xfrm>
            <a:off x="6101655" y="419100"/>
            <a:ext cx="335855" cy="76200"/>
          </a:xfrm>
          <a:prstGeom prst="roundRect">
            <a:avLst>
              <a:gd name="adj" fmla="val 50000"/>
            </a:avLst>
          </a:prstGeom>
          <a:solidFill>
            <a:schemeClr val="tx1"/>
          </a:solidFill>
          <a:ln/>
        </p:spPr>
      </p:sp>
      <p:sp>
        <p:nvSpPr>
          <p:cNvPr id="5" name="concept-fill-57"/>
          <p:cNvSpPr/>
          <p:nvPr/>
        </p:nvSpPr>
        <p:spPr>
          <a:xfrm>
            <a:off x="6488311" y="419100"/>
            <a:ext cx="335855" cy="76200"/>
          </a:xfrm>
          <a:prstGeom prst="roundRect">
            <a:avLst>
              <a:gd name="adj" fmla="val 50000"/>
            </a:avLst>
          </a:prstGeom>
          <a:solidFill>
            <a:schemeClr val="tx1"/>
          </a:solidFill>
          <a:ln/>
        </p:spPr>
      </p:sp>
      <p:sp>
        <p:nvSpPr>
          <p:cNvPr id="6" name="concept-fill-58"/>
          <p:cNvSpPr/>
          <p:nvPr/>
        </p:nvSpPr>
        <p:spPr>
          <a:xfrm>
            <a:off x="6874966" y="419100"/>
            <a:ext cx="335855" cy="76200"/>
          </a:xfrm>
          <a:prstGeom prst="roundRect">
            <a:avLst>
              <a:gd name="adj" fmla="val 50000"/>
            </a:avLst>
          </a:prstGeom>
          <a:solidFill>
            <a:schemeClr val="accent1"/>
          </a:solidFill>
          <a:ln/>
        </p:spPr>
      </p:sp>
      <p:sp>
        <p:nvSpPr>
          <p:cNvPr id="7" name="concept-box-59"/>
          <p:cNvSpPr/>
          <p:nvPr/>
        </p:nvSpPr>
        <p:spPr>
          <a:xfrm>
            <a:off x="7267972" y="425450"/>
            <a:ext cx="348555" cy="63500"/>
          </a:xfrm>
          <a:prstGeom prst="roundRect">
            <a:avLst>
              <a:gd name="adj" fmla="val 50000"/>
            </a:avLst>
          </a:prstGeom>
          <a:ln w="12700">
            <a:solidFill>
              <a:schemeClr val="tx1"/>
            </a:solidFill>
            <a:prstDash val="solid"/>
          </a:ln>
        </p:spPr>
      </p:sp>
      <p:sp>
        <p:nvSpPr>
          <p:cNvPr id="8" name="concept-box-60"/>
          <p:cNvSpPr/>
          <p:nvPr/>
        </p:nvSpPr>
        <p:spPr>
          <a:xfrm>
            <a:off x="7680027" y="425450"/>
            <a:ext cx="348555" cy="63500"/>
          </a:xfrm>
          <a:prstGeom prst="roundRect">
            <a:avLst>
              <a:gd name="adj" fmla="val 50000"/>
            </a:avLst>
          </a:prstGeom>
          <a:ln w="12700">
            <a:solidFill>
              <a:schemeClr val="tx1"/>
            </a:solidFill>
            <a:prstDash val="solid"/>
          </a:ln>
        </p:spPr>
      </p:sp>
      <p:sp>
        <p:nvSpPr>
          <p:cNvPr id="9" name="concept-box-61"/>
          <p:cNvSpPr/>
          <p:nvPr/>
        </p:nvSpPr>
        <p:spPr>
          <a:xfrm>
            <a:off x="8092083" y="425450"/>
            <a:ext cx="348555" cy="63500"/>
          </a:xfrm>
          <a:prstGeom prst="roundRect">
            <a:avLst>
              <a:gd name="adj" fmla="val 50000"/>
            </a:avLst>
          </a:prstGeom>
          <a:ln w="12700">
            <a:solidFill>
              <a:schemeClr val="tx1"/>
            </a:solidFill>
            <a:prstDash val="solid"/>
          </a:ln>
        </p:spPr>
      </p:sp>
      <p:sp>
        <p:nvSpPr>
          <p:cNvPr id="10" name="concept-box-62"/>
          <p:cNvSpPr/>
          <p:nvPr/>
        </p:nvSpPr>
        <p:spPr>
          <a:xfrm>
            <a:off x="8504138" y="425450"/>
            <a:ext cx="348555" cy="63500"/>
          </a:xfrm>
          <a:prstGeom prst="roundRect">
            <a:avLst>
              <a:gd name="adj" fmla="val 50000"/>
            </a:avLst>
          </a:prstGeom>
          <a:ln w="12700">
            <a:solidFill>
              <a:schemeClr val="tx1"/>
            </a:solidFill>
            <a:prstDash val="solid"/>
          </a:ln>
        </p:spPr>
      </p:sp>
      <p:sp>
        <p:nvSpPr>
          <p:cNvPr id="11" name="concept-box-63"/>
          <p:cNvSpPr/>
          <p:nvPr/>
        </p:nvSpPr>
        <p:spPr>
          <a:xfrm>
            <a:off x="8916194" y="425450"/>
            <a:ext cx="348555" cy="63500"/>
          </a:xfrm>
          <a:prstGeom prst="roundRect">
            <a:avLst>
              <a:gd name="adj" fmla="val 50000"/>
            </a:avLst>
          </a:prstGeom>
          <a:ln w="12700">
            <a:solidFill>
              <a:schemeClr val="tx1"/>
            </a:solidFill>
            <a:prstDash val="solid"/>
          </a:ln>
        </p:spPr>
      </p:sp>
      <p:sp>
        <p:nvSpPr>
          <p:cNvPr id="12" name="concept-text-64"/>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04</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A quiz arena with real stakes</a:t>
            </a:r>
            <a:endParaRPr lang="en-US" sz="4000" dirty="0"/>
          </a:p>
        </p:txBody>
      </p:sp>
      <p:sp>
        <p:nvSpPr>
          <p:cNvPr id="14" name="concept-text-66"/>
          <p:cNvSpPr txBox="1"/>
          <p:nvPr/>
        </p:nvSpPr>
        <p:spPr>
          <a:xfrm>
            <a:off x="812800" y="1930400"/>
            <a:ext cx="6299200" cy="994172"/>
          </a:xfrm>
          <a:prstGeom prst="rect">
            <a:avLst/>
          </a:prstGeom>
          <a:noFill/>
          <a:ln/>
        </p:spPr>
        <p:txBody>
          <a:bodyPr wrap="square" lIns="0" tIns="0" rIns="0" bIns="0" rtlCol="0" anchor="t"/>
          <a:lstStyle/>
          <a:p>
            <a:pPr algn="l" indent="0" marL="0">
              <a:lnSpc>
                <a:spcPts val="2610"/>
              </a:lnSpc>
              <a:buNone/>
            </a:pPr>
            <a:r>
              <a:rPr lang="en-US" sz="1800" dirty="0">
                <a:solidFill>
                  <a:schemeClr val="tx1"/>
                </a:solidFill>
              </a:rPr>
              <a:t>Inspired by </a:t>
            </a:r>
            <a:pPr algn="l" indent="0" marL="0">
              <a:lnSpc>
                <a:spcPts val="2610"/>
              </a:lnSpc>
              <a:buNone/>
            </a:pPr>
            <a:r>
              <a:rPr lang="en-US" sz="1800" b="1" dirty="0">
                <a:solidFill>
                  <a:schemeClr val="tx1"/>
                </a:solidFill>
              </a:rPr>
              <a:t>Quizizz</a:t>
            </a:r>
            <a:pPr algn="l" indent="0" marL="0">
              <a:lnSpc>
                <a:spcPts val="2610"/>
              </a:lnSpc>
              <a:buNone/>
            </a:pPr>
            <a:r>
              <a:rPr lang="en-US" sz="1800" dirty="0">
                <a:solidFill>
                  <a:schemeClr val="tx1"/>
                </a:solidFill>
              </a:rPr>
              <a:t> and </a:t>
            </a:r>
            <a:pPr algn="l" indent="0" marL="0">
              <a:lnSpc>
                <a:spcPts val="2610"/>
              </a:lnSpc>
              <a:buNone/>
            </a:pPr>
            <a:r>
              <a:rPr lang="en-US" sz="1800" b="1" dirty="0">
                <a:solidFill>
                  <a:schemeClr val="tx1"/>
                </a:solidFill>
              </a:rPr>
              <a:t>Kahoot</a:t>
            </a:r>
            <a:pPr algn="l" indent="0" marL="0">
              <a:lnSpc>
                <a:spcPts val="2610"/>
              </a:lnSpc>
              <a:buNone/>
            </a:pPr>
            <a:r>
              <a:rPr lang="en-US" sz="1800" dirty="0">
                <a:solidFill>
                  <a:schemeClr val="tx1"/>
                </a:solidFill>
              </a:rPr>
              <a:t>. The teacher opens a room, students join with a code, and everyone answers the same timed questions on their own device.</a:t>
            </a:r>
            <a:endParaRPr lang="en-US" sz="1800" dirty="0"/>
          </a:p>
        </p:txBody>
      </p:sp>
      <p:sp>
        <p:nvSpPr>
          <p:cNvPr id="15" name="concept-text-67"/>
          <p:cNvSpPr txBox="1"/>
          <p:nvPr/>
        </p:nvSpPr>
        <p:spPr>
          <a:xfrm>
            <a:off x="812800" y="3127772"/>
            <a:ext cx="6299200" cy="662781"/>
          </a:xfrm>
          <a:prstGeom prst="rect">
            <a:avLst/>
          </a:prstGeom>
          <a:noFill/>
          <a:ln/>
        </p:spPr>
        <p:txBody>
          <a:bodyPr wrap="square" lIns="0" tIns="0" rIns="0" bIns="0" rtlCol="0" anchor="t"/>
          <a:lstStyle/>
          <a:p>
            <a:pPr algn="l" indent="0" marL="0">
              <a:lnSpc>
                <a:spcPts val="2610"/>
              </a:lnSpc>
              <a:buNone/>
            </a:pPr>
            <a:r>
              <a:rPr lang="en-US" sz="1800" dirty="0">
                <a:solidFill>
                  <a:schemeClr val="tx1"/>
                </a:solidFill>
              </a:rPr>
              <a:t>Every correct answer pays out twice: </a:t>
            </a:r>
            <a:pPr algn="l" indent="0" marL="0">
              <a:lnSpc>
                <a:spcPts val="2610"/>
              </a:lnSpc>
              <a:buNone/>
            </a:pPr>
            <a:r>
              <a:rPr lang="en-US" sz="1800" b="1" dirty="0">
                <a:solidFill>
                  <a:schemeClr val="accent1"/>
                </a:solidFill>
              </a:rPr>
              <a:t>XP</a:t>
            </a:r>
            <a:pPr algn="l" indent="0" marL="0">
              <a:lnSpc>
                <a:spcPts val="2610"/>
              </a:lnSpc>
              <a:buNone/>
            </a:pPr>
            <a:r>
              <a:rPr lang="en-US" sz="1800" dirty="0">
                <a:solidFill>
                  <a:schemeClr val="tx1"/>
                </a:solidFill>
              </a:rPr>
              <a:t> that counts toward grades, and </a:t>
            </a:r>
            <a:pPr algn="l" indent="0" marL="0">
              <a:lnSpc>
                <a:spcPts val="2610"/>
              </a:lnSpc>
              <a:buNone/>
            </a:pPr>
            <a:r>
              <a:rPr lang="en-US" sz="1800" b="1" dirty="0">
                <a:solidFill>
                  <a:schemeClr val="tx1"/>
                </a:solidFill>
              </a:rPr>
              <a:t>coins</a:t>
            </a:r>
            <a:pPr algn="l" indent="0" marL="0">
              <a:lnSpc>
                <a:spcPts val="2610"/>
              </a:lnSpc>
              <a:buNone/>
            </a:pPr>
            <a:r>
              <a:rPr lang="en-US" sz="1800" dirty="0">
                <a:solidFill>
                  <a:schemeClr val="tx1"/>
                </a:solidFill>
              </a:rPr>
              <a:t> that unlock avatars and skins.</a:t>
            </a:r>
            <a:endParaRPr lang="en-US" sz="1800" dirty="0"/>
          </a:p>
        </p:txBody>
      </p:sp>
      <p:sp>
        <p:nvSpPr>
          <p:cNvPr id="16" name="concept-rule-68"/>
          <p:cNvSpPr/>
          <p:nvPr/>
        </p:nvSpPr>
        <p:spPr>
          <a:xfrm>
            <a:off x="7696200" y="1930400"/>
            <a:ext cx="3683000" cy="25400"/>
          </a:xfrm>
          <a:prstGeom prst="rect">
            <a:avLst/>
          </a:prstGeom>
          <a:solidFill>
            <a:schemeClr val="tx1"/>
          </a:solidFill>
          <a:ln/>
        </p:spPr>
      </p:sp>
      <p:sp>
        <p:nvSpPr>
          <p:cNvPr id="17" name="concept-rule-69"/>
          <p:cNvSpPr/>
          <p:nvPr/>
        </p:nvSpPr>
        <p:spPr>
          <a:xfrm>
            <a:off x="7696200" y="2870200"/>
            <a:ext cx="3683000" cy="25400"/>
          </a:xfrm>
          <a:prstGeom prst="rect">
            <a:avLst/>
          </a:prstGeom>
          <a:solidFill>
            <a:schemeClr val="tx1"/>
          </a:solidFill>
          <a:ln/>
        </p:spPr>
      </p:sp>
      <p:sp>
        <p:nvSpPr>
          <p:cNvPr id="18" name="concept-text-70"/>
          <p:cNvSpPr txBox="1"/>
          <p:nvPr/>
        </p:nvSpPr>
        <p:spPr>
          <a:xfrm>
            <a:off x="7696200" y="2108200"/>
            <a:ext cx="11049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20s</a:t>
            </a:r>
            <a:endParaRPr lang="en-US" sz="4000" dirty="0"/>
          </a:p>
        </p:txBody>
      </p:sp>
      <p:sp>
        <p:nvSpPr>
          <p:cNvPr id="19" name="concept-text-71"/>
          <p:cNvSpPr txBox="1"/>
          <p:nvPr/>
        </p:nvSpPr>
        <p:spPr>
          <a:xfrm>
            <a:off x="8978900" y="2264370"/>
            <a:ext cx="2425700" cy="297160"/>
          </a:xfrm>
          <a:prstGeom prst="rect">
            <a:avLst/>
          </a:prstGeom>
          <a:noFill/>
          <a:ln/>
        </p:spPr>
        <p:txBody>
          <a:bodyPr wrap="square" lIns="0" tIns="0" rIns="0" bIns="0" rtlCol="0" anchor="t"/>
          <a:lstStyle/>
          <a:p>
            <a:pPr algn="l" indent="0" marL="0">
              <a:lnSpc>
                <a:spcPts val="2340"/>
              </a:lnSpc>
              <a:buNone/>
            </a:pPr>
            <a:r>
              <a:rPr lang="en-US" sz="1800" dirty="0">
                <a:solidFill>
                  <a:schemeClr val="tx1"/>
                </a:solidFill>
              </a:rPr>
              <a:t>per question</a:t>
            </a:r>
            <a:endParaRPr lang="en-US" sz="1800" dirty="0"/>
          </a:p>
        </p:txBody>
      </p:sp>
      <p:sp>
        <p:nvSpPr>
          <p:cNvPr id="20" name="concept-rule-72"/>
          <p:cNvSpPr/>
          <p:nvPr/>
        </p:nvSpPr>
        <p:spPr>
          <a:xfrm>
            <a:off x="7696200" y="3810000"/>
            <a:ext cx="3683000" cy="25400"/>
          </a:xfrm>
          <a:prstGeom prst="rect">
            <a:avLst/>
          </a:prstGeom>
          <a:solidFill>
            <a:schemeClr val="tx1"/>
          </a:solidFill>
          <a:ln/>
        </p:spPr>
      </p:sp>
      <p:sp>
        <p:nvSpPr>
          <p:cNvPr id="21" name="concept-text-73"/>
          <p:cNvSpPr txBox="1"/>
          <p:nvPr/>
        </p:nvSpPr>
        <p:spPr>
          <a:xfrm>
            <a:off x="7696200" y="3048000"/>
            <a:ext cx="11049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22" name="concept-text-74"/>
          <p:cNvSpPr txBox="1"/>
          <p:nvPr/>
        </p:nvSpPr>
        <p:spPr>
          <a:xfrm>
            <a:off x="8978900" y="3204170"/>
            <a:ext cx="2425700" cy="297160"/>
          </a:xfrm>
          <a:prstGeom prst="rect">
            <a:avLst/>
          </a:prstGeom>
          <a:noFill/>
          <a:ln/>
        </p:spPr>
        <p:txBody>
          <a:bodyPr wrap="square" lIns="0" tIns="0" rIns="0" bIns="0" rtlCol="0" anchor="t"/>
          <a:lstStyle/>
          <a:p>
            <a:pPr algn="l" indent="0" marL="0">
              <a:lnSpc>
                <a:spcPts val="2340"/>
              </a:lnSpc>
              <a:buNone/>
            </a:pPr>
            <a:r>
              <a:rPr lang="en-US" sz="1800" dirty="0">
                <a:solidFill>
                  <a:schemeClr val="tx1"/>
                </a:solidFill>
              </a:rPr>
              <a:t>answer choices</a:t>
            </a:r>
            <a:endParaRPr lang="en-US" sz="1800" dirty="0"/>
          </a:p>
        </p:txBody>
      </p:sp>
      <p:sp>
        <p:nvSpPr>
          <p:cNvPr id="23" name="concept-rule-75"/>
          <p:cNvSpPr/>
          <p:nvPr/>
        </p:nvSpPr>
        <p:spPr>
          <a:xfrm>
            <a:off x="7696200" y="4749800"/>
            <a:ext cx="3683000" cy="25400"/>
          </a:xfrm>
          <a:prstGeom prst="rect">
            <a:avLst/>
          </a:prstGeom>
          <a:solidFill>
            <a:schemeClr val="tx1"/>
          </a:solidFill>
          <a:ln/>
        </p:spPr>
      </p:sp>
      <p:sp>
        <p:nvSpPr>
          <p:cNvPr id="24" name="concept-text-76"/>
          <p:cNvSpPr txBox="1"/>
          <p:nvPr/>
        </p:nvSpPr>
        <p:spPr>
          <a:xfrm>
            <a:off x="7696200" y="3987800"/>
            <a:ext cx="11049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2</a:t>
            </a:r>
            <a:endParaRPr lang="en-US" sz="4000" dirty="0"/>
          </a:p>
        </p:txBody>
      </p:sp>
      <p:sp>
        <p:nvSpPr>
          <p:cNvPr id="25" name="concept-text-77"/>
          <p:cNvSpPr txBox="1"/>
          <p:nvPr/>
        </p:nvSpPr>
        <p:spPr>
          <a:xfrm>
            <a:off x="8978900" y="4143970"/>
            <a:ext cx="2425700" cy="297160"/>
          </a:xfrm>
          <a:prstGeom prst="rect">
            <a:avLst/>
          </a:prstGeom>
          <a:noFill/>
          <a:ln/>
        </p:spPr>
        <p:txBody>
          <a:bodyPr wrap="square" lIns="0" tIns="0" rIns="0" bIns="0" rtlCol="0" anchor="t"/>
          <a:lstStyle/>
          <a:p>
            <a:pPr algn="l" indent="0" marL="0">
              <a:lnSpc>
                <a:spcPts val="2340"/>
              </a:lnSpc>
              <a:buNone/>
            </a:pPr>
            <a:r>
              <a:rPr lang="en-US" sz="1800" dirty="0">
                <a:solidFill>
                  <a:schemeClr val="tx1"/>
                </a:solidFill>
              </a:rPr>
              <a:t>rewards: XP and coins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activity-text-78"/>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04 · Learning Activity</a:t>
            </a:r>
            <a:endParaRPr lang="en-US" sz="1800" dirty="0"/>
          </a:p>
        </p:txBody>
      </p:sp>
      <p:sp>
        <p:nvSpPr>
          <p:cNvPr id="3" name="activity-fill-79"/>
          <p:cNvSpPr/>
          <p:nvPr/>
        </p:nvSpPr>
        <p:spPr>
          <a:xfrm>
            <a:off x="5715000" y="419100"/>
            <a:ext cx="338634" cy="76200"/>
          </a:xfrm>
          <a:prstGeom prst="roundRect">
            <a:avLst>
              <a:gd name="adj" fmla="val 50000"/>
            </a:avLst>
          </a:prstGeom>
          <a:solidFill>
            <a:schemeClr val="tx1"/>
          </a:solidFill>
          <a:ln/>
        </p:spPr>
      </p:sp>
      <p:sp>
        <p:nvSpPr>
          <p:cNvPr id="4" name="activity-fill-80"/>
          <p:cNvSpPr/>
          <p:nvPr/>
        </p:nvSpPr>
        <p:spPr>
          <a:xfrm>
            <a:off x="6104434" y="419100"/>
            <a:ext cx="338634" cy="76200"/>
          </a:xfrm>
          <a:prstGeom prst="roundRect">
            <a:avLst>
              <a:gd name="adj" fmla="val 50000"/>
            </a:avLst>
          </a:prstGeom>
          <a:solidFill>
            <a:schemeClr val="tx1"/>
          </a:solidFill>
          <a:ln/>
        </p:spPr>
      </p:sp>
      <p:sp>
        <p:nvSpPr>
          <p:cNvPr id="5" name="activity-fill-81"/>
          <p:cNvSpPr/>
          <p:nvPr/>
        </p:nvSpPr>
        <p:spPr>
          <a:xfrm>
            <a:off x="6493867" y="419100"/>
            <a:ext cx="338634" cy="76200"/>
          </a:xfrm>
          <a:prstGeom prst="roundRect">
            <a:avLst>
              <a:gd name="adj" fmla="val 50000"/>
            </a:avLst>
          </a:prstGeom>
          <a:solidFill>
            <a:schemeClr val="tx1"/>
          </a:solidFill>
          <a:ln/>
        </p:spPr>
      </p:sp>
      <p:sp>
        <p:nvSpPr>
          <p:cNvPr id="6" name="activity-fill-82"/>
          <p:cNvSpPr/>
          <p:nvPr/>
        </p:nvSpPr>
        <p:spPr>
          <a:xfrm>
            <a:off x="6883301" y="419100"/>
            <a:ext cx="338634" cy="76200"/>
          </a:xfrm>
          <a:prstGeom prst="roundRect">
            <a:avLst>
              <a:gd name="adj" fmla="val 50000"/>
            </a:avLst>
          </a:prstGeom>
          <a:solidFill>
            <a:schemeClr val="tx1"/>
          </a:solidFill>
          <a:ln/>
        </p:spPr>
      </p:sp>
      <p:sp>
        <p:nvSpPr>
          <p:cNvPr id="7" name="activity-fill-83"/>
          <p:cNvSpPr/>
          <p:nvPr/>
        </p:nvSpPr>
        <p:spPr>
          <a:xfrm>
            <a:off x="7272734" y="419100"/>
            <a:ext cx="338634" cy="76200"/>
          </a:xfrm>
          <a:prstGeom prst="roundRect">
            <a:avLst>
              <a:gd name="adj" fmla="val 50000"/>
            </a:avLst>
          </a:prstGeom>
          <a:solidFill>
            <a:schemeClr val="accent1"/>
          </a:solidFill>
          <a:ln/>
        </p:spPr>
      </p:sp>
      <p:sp>
        <p:nvSpPr>
          <p:cNvPr id="8" name="activity-box-84"/>
          <p:cNvSpPr/>
          <p:nvPr/>
        </p:nvSpPr>
        <p:spPr>
          <a:xfrm>
            <a:off x="7668518" y="425450"/>
            <a:ext cx="351334" cy="63500"/>
          </a:xfrm>
          <a:prstGeom prst="roundRect">
            <a:avLst>
              <a:gd name="adj" fmla="val 50000"/>
            </a:avLst>
          </a:prstGeom>
          <a:ln w="12700">
            <a:solidFill>
              <a:schemeClr val="tx1"/>
            </a:solidFill>
            <a:prstDash val="solid"/>
          </a:ln>
        </p:spPr>
      </p:sp>
      <p:sp>
        <p:nvSpPr>
          <p:cNvPr id="9" name="activity-box-85"/>
          <p:cNvSpPr/>
          <p:nvPr/>
        </p:nvSpPr>
        <p:spPr>
          <a:xfrm>
            <a:off x="8083352" y="425450"/>
            <a:ext cx="351334" cy="63500"/>
          </a:xfrm>
          <a:prstGeom prst="roundRect">
            <a:avLst>
              <a:gd name="adj" fmla="val 50000"/>
            </a:avLst>
          </a:prstGeom>
          <a:ln w="12700">
            <a:solidFill>
              <a:schemeClr val="tx1"/>
            </a:solidFill>
            <a:prstDash val="solid"/>
          </a:ln>
        </p:spPr>
      </p:sp>
      <p:sp>
        <p:nvSpPr>
          <p:cNvPr id="10" name="activity-box-86"/>
          <p:cNvSpPr/>
          <p:nvPr/>
        </p:nvSpPr>
        <p:spPr>
          <a:xfrm>
            <a:off x="8498185" y="425450"/>
            <a:ext cx="351334" cy="63500"/>
          </a:xfrm>
          <a:prstGeom prst="roundRect">
            <a:avLst>
              <a:gd name="adj" fmla="val 50000"/>
            </a:avLst>
          </a:prstGeom>
          <a:ln w="12700">
            <a:solidFill>
              <a:schemeClr val="tx1"/>
            </a:solidFill>
            <a:prstDash val="solid"/>
          </a:ln>
        </p:spPr>
      </p:sp>
      <p:sp>
        <p:nvSpPr>
          <p:cNvPr id="11" name="activity-box-87"/>
          <p:cNvSpPr/>
          <p:nvPr/>
        </p:nvSpPr>
        <p:spPr>
          <a:xfrm>
            <a:off x="8913019" y="425450"/>
            <a:ext cx="351334" cy="63500"/>
          </a:xfrm>
          <a:prstGeom prst="roundRect">
            <a:avLst>
              <a:gd name="adj" fmla="val 50000"/>
            </a:avLst>
          </a:prstGeom>
          <a:ln w="12700">
            <a:solidFill>
              <a:schemeClr val="tx1"/>
            </a:solidFill>
            <a:prstDash val="solid"/>
          </a:ln>
        </p:spPr>
      </p:sp>
      <p:sp>
        <p:nvSpPr>
          <p:cNvPr id="12" name="activity-text-88"/>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05</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One class session, four steps</a:t>
            </a:r>
            <a:endParaRPr lang="en-US" sz="4000" dirty="0"/>
          </a:p>
        </p:txBody>
      </p:sp>
      <p:sp>
        <p:nvSpPr>
          <p:cNvPr id="14" name="activity-shadow-90"/>
          <p:cNvSpPr/>
          <p:nvPr/>
        </p:nvSpPr>
        <p:spPr>
          <a:xfrm>
            <a:off x="876300" y="1993900"/>
            <a:ext cx="762000" cy="762000"/>
          </a:xfrm>
          <a:prstGeom prst="roundRect">
            <a:avLst>
              <a:gd name="adj" fmla="val 6667"/>
            </a:avLst>
          </a:prstGeom>
          <a:solidFill>
            <a:schemeClr val="tx1"/>
          </a:solidFill>
          <a:ln/>
        </p:spPr>
      </p:sp>
      <p:sp>
        <p:nvSpPr>
          <p:cNvPr id="15" name="activity-box-90"/>
          <p:cNvSpPr/>
          <p:nvPr/>
        </p:nvSpPr>
        <p:spPr>
          <a:xfrm>
            <a:off x="825500" y="1943100"/>
            <a:ext cx="736600" cy="736600"/>
          </a:xfrm>
          <a:prstGeom prst="roundRect">
            <a:avLst>
              <a:gd name="adj" fmla="val 5172"/>
            </a:avLst>
          </a:prstGeom>
          <a:solidFill>
            <a:schemeClr val="bg1"/>
          </a:solidFill>
          <a:ln w="25400">
            <a:solidFill>
              <a:schemeClr val="tx1"/>
            </a:solidFill>
            <a:prstDash val="solid"/>
          </a:ln>
        </p:spPr>
      </p:sp>
      <p:sp>
        <p:nvSpPr>
          <p:cNvPr id="16" name="activity-text-91"/>
          <p:cNvSpPr txBox="1"/>
          <p:nvPr/>
        </p:nvSpPr>
        <p:spPr>
          <a:xfrm>
            <a:off x="1099741" y="2006600"/>
            <a:ext cx="188020" cy="609600"/>
          </a:xfrm>
          <a:prstGeom prst="rect">
            <a:avLst/>
          </a:prstGeom>
          <a:noFill/>
          <a:ln/>
        </p:spPr>
        <p:txBody>
          <a:bodyPr wrap="square" lIns="0" tIns="0" rIns="0" bIns="0" rtlCol="0" anchor="t"/>
          <a:lstStyle/>
          <a:p>
            <a:pPr algn="ctr" indent="0" marL="0">
              <a:lnSpc>
                <a:spcPts val="4800"/>
              </a:lnSpc>
              <a:buNone/>
            </a:pPr>
            <a:r>
              <a:rPr lang="en-US" sz="4000" b="1" dirty="0">
                <a:solidFill>
                  <a:schemeClr val="tx1"/>
                </a:solidFill>
                <a:latin typeface="+mj-lt" pitchFamily="34" charset="0"/>
                <a:ea typeface="+mj-lt" pitchFamily="34" charset="-122"/>
                <a:cs typeface="+mj-lt" pitchFamily="34" charset="-120"/>
              </a:rPr>
              <a:t>1</a:t>
            </a:r>
            <a:endParaRPr lang="en-US" sz="4000" dirty="0"/>
          </a:p>
        </p:txBody>
      </p:sp>
      <p:sp>
        <p:nvSpPr>
          <p:cNvPr id="17" name="activity-fill-92"/>
          <p:cNvSpPr/>
          <p:nvPr/>
        </p:nvSpPr>
        <p:spPr>
          <a:xfrm>
            <a:off x="1574800" y="2298700"/>
            <a:ext cx="1879600" cy="25400"/>
          </a:xfrm>
          <a:prstGeom prst="rect">
            <a:avLst/>
          </a:prstGeom>
          <a:solidFill>
            <a:schemeClr val="tx1"/>
          </a:solidFill>
          <a:ln/>
        </p:spPr>
      </p:sp>
      <p:sp>
        <p:nvSpPr>
          <p:cNvPr id="18" name="activity-text-93"/>
          <p:cNvSpPr txBox="1"/>
          <p:nvPr/>
        </p:nvSpPr>
        <p:spPr>
          <a:xfrm>
            <a:off x="812800" y="2895600"/>
            <a:ext cx="24130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Join</a:t>
            </a:r>
            <a:endParaRPr lang="en-US" sz="2400" dirty="0"/>
          </a:p>
        </p:txBody>
      </p:sp>
      <p:sp>
        <p:nvSpPr>
          <p:cNvPr id="19" name="activity-text-94"/>
          <p:cNvSpPr txBox="1"/>
          <p:nvPr/>
        </p:nvSpPr>
        <p:spPr>
          <a:xfrm>
            <a:off x="812800" y="3337520"/>
            <a:ext cx="2413000" cy="123428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Students enter the room code and pick their avatar and equipped skin.</a:t>
            </a:r>
            <a:endParaRPr lang="en-US" sz="1800" dirty="0"/>
          </a:p>
        </p:txBody>
      </p:sp>
      <p:sp>
        <p:nvSpPr>
          <p:cNvPr id="20" name="activity-shadow-95"/>
          <p:cNvSpPr/>
          <p:nvPr/>
        </p:nvSpPr>
        <p:spPr>
          <a:xfrm>
            <a:off x="3517900" y="1993900"/>
            <a:ext cx="762000" cy="762000"/>
          </a:xfrm>
          <a:prstGeom prst="roundRect">
            <a:avLst>
              <a:gd name="adj" fmla="val 6667"/>
            </a:avLst>
          </a:prstGeom>
          <a:solidFill>
            <a:schemeClr val="tx1"/>
          </a:solidFill>
          <a:ln/>
        </p:spPr>
      </p:sp>
      <p:sp>
        <p:nvSpPr>
          <p:cNvPr id="21" name="activity-box-95"/>
          <p:cNvSpPr/>
          <p:nvPr/>
        </p:nvSpPr>
        <p:spPr>
          <a:xfrm>
            <a:off x="3467100" y="1943100"/>
            <a:ext cx="736600" cy="736600"/>
          </a:xfrm>
          <a:prstGeom prst="roundRect">
            <a:avLst>
              <a:gd name="adj" fmla="val 5172"/>
            </a:avLst>
          </a:prstGeom>
          <a:solidFill>
            <a:schemeClr val="bg1"/>
          </a:solidFill>
          <a:ln w="25400">
            <a:solidFill>
              <a:schemeClr val="tx1"/>
            </a:solidFill>
            <a:prstDash val="solid"/>
          </a:ln>
        </p:spPr>
      </p:sp>
      <p:sp>
        <p:nvSpPr>
          <p:cNvPr id="22" name="activity-text-96"/>
          <p:cNvSpPr txBox="1"/>
          <p:nvPr/>
        </p:nvSpPr>
        <p:spPr>
          <a:xfrm>
            <a:off x="3679627" y="2006600"/>
            <a:ext cx="311448" cy="609600"/>
          </a:xfrm>
          <a:prstGeom prst="rect">
            <a:avLst/>
          </a:prstGeom>
          <a:noFill/>
          <a:ln/>
        </p:spPr>
        <p:txBody>
          <a:bodyPr wrap="square" lIns="0" tIns="0" rIns="0" bIns="0" rtlCol="0" anchor="t"/>
          <a:lstStyle/>
          <a:p>
            <a:pPr algn="ctr" indent="0" marL="0">
              <a:lnSpc>
                <a:spcPts val="4800"/>
              </a:lnSpc>
              <a:buNone/>
            </a:pPr>
            <a:r>
              <a:rPr lang="en-US" sz="4000" b="1" dirty="0">
                <a:solidFill>
                  <a:schemeClr val="tx1"/>
                </a:solidFill>
                <a:latin typeface="+mj-lt" pitchFamily="34" charset="0"/>
                <a:ea typeface="+mj-lt" pitchFamily="34" charset="-122"/>
                <a:cs typeface="+mj-lt" pitchFamily="34" charset="-120"/>
              </a:rPr>
              <a:t>2</a:t>
            </a:r>
            <a:endParaRPr lang="en-US" sz="4000" dirty="0"/>
          </a:p>
        </p:txBody>
      </p:sp>
      <p:sp>
        <p:nvSpPr>
          <p:cNvPr id="23" name="activity-fill-97"/>
          <p:cNvSpPr/>
          <p:nvPr/>
        </p:nvSpPr>
        <p:spPr>
          <a:xfrm>
            <a:off x="4216400" y="2298700"/>
            <a:ext cx="1879600" cy="25400"/>
          </a:xfrm>
          <a:prstGeom prst="rect">
            <a:avLst/>
          </a:prstGeom>
          <a:solidFill>
            <a:schemeClr val="tx1"/>
          </a:solidFill>
          <a:ln/>
        </p:spPr>
      </p:sp>
      <p:sp>
        <p:nvSpPr>
          <p:cNvPr id="24" name="activity-text-98"/>
          <p:cNvSpPr txBox="1"/>
          <p:nvPr/>
        </p:nvSpPr>
        <p:spPr>
          <a:xfrm>
            <a:off x="3454400" y="2895600"/>
            <a:ext cx="24130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Answer</a:t>
            </a:r>
            <a:endParaRPr lang="en-US" sz="2400" dirty="0"/>
          </a:p>
        </p:txBody>
      </p:sp>
      <p:sp>
        <p:nvSpPr>
          <p:cNvPr id="25" name="activity-text-99"/>
          <p:cNvSpPr txBox="1"/>
          <p:nvPr/>
        </p:nvSpPr>
        <p:spPr>
          <a:xfrm>
            <a:off x="3454400" y="3337520"/>
            <a:ext cx="2413000" cy="123428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15 timed questions on prefixes, suffixes, roots and short patient scenarios.</a:t>
            </a:r>
            <a:endParaRPr lang="en-US" sz="1800" dirty="0"/>
          </a:p>
        </p:txBody>
      </p:sp>
      <p:sp>
        <p:nvSpPr>
          <p:cNvPr id="26" name="activity-shadow-100"/>
          <p:cNvSpPr/>
          <p:nvPr/>
        </p:nvSpPr>
        <p:spPr>
          <a:xfrm>
            <a:off x="6159500" y="1993900"/>
            <a:ext cx="762000" cy="762000"/>
          </a:xfrm>
          <a:prstGeom prst="roundRect">
            <a:avLst>
              <a:gd name="adj" fmla="val 6667"/>
            </a:avLst>
          </a:prstGeom>
          <a:solidFill>
            <a:schemeClr val="tx1"/>
          </a:solidFill>
          <a:ln/>
        </p:spPr>
      </p:sp>
      <p:sp>
        <p:nvSpPr>
          <p:cNvPr id="27" name="activity-box-100"/>
          <p:cNvSpPr/>
          <p:nvPr/>
        </p:nvSpPr>
        <p:spPr>
          <a:xfrm>
            <a:off x="6108700" y="1943100"/>
            <a:ext cx="736600" cy="736600"/>
          </a:xfrm>
          <a:prstGeom prst="roundRect">
            <a:avLst>
              <a:gd name="adj" fmla="val 5172"/>
            </a:avLst>
          </a:prstGeom>
          <a:solidFill>
            <a:schemeClr val="bg1"/>
          </a:solidFill>
          <a:ln w="25400">
            <a:solidFill>
              <a:schemeClr val="tx1"/>
            </a:solidFill>
            <a:prstDash val="solid"/>
          </a:ln>
        </p:spPr>
      </p:sp>
      <p:sp>
        <p:nvSpPr>
          <p:cNvPr id="28" name="activity-text-101"/>
          <p:cNvSpPr txBox="1"/>
          <p:nvPr/>
        </p:nvSpPr>
        <p:spPr>
          <a:xfrm>
            <a:off x="6318448" y="2006600"/>
            <a:ext cx="317004" cy="609600"/>
          </a:xfrm>
          <a:prstGeom prst="rect">
            <a:avLst/>
          </a:prstGeom>
          <a:noFill/>
          <a:ln/>
        </p:spPr>
        <p:txBody>
          <a:bodyPr wrap="square" lIns="0" tIns="0" rIns="0" bIns="0" rtlCol="0" anchor="t"/>
          <a:lstStyle/>
          <a:p>
            <a:pPr algn="ctr" indent="0" marL="0">
              <a:lnSpc>
                <a:spcPts val="4800"/>
              </a:lnSpc>
              <a:buNone/>
            </a:pPr>
            <a:r>
              <a:rPr lang="en-US" sz="4000" b="1" dirty="0">
                <a:solidFill>
                  <a:schemeClr val="tx1"/>
                </a:solidFill>
                <a:latin typeface="+mj-lt" pitchFamily="34" charset="0"/>
                <a:ea typeface="+mj-lt" pitchFamily="34" charset="-122"/>
                <a:cs typeface="+mj-lt" pitchFamily="34" charset="-120"/>
              </a:rPr>
              <a:t>3</a:t>
            </a:r>
            <a:endParaRPr lang="en-US" sz="4000" dirty="0"/>
          </a:p>
        </p:txBody>
      </p:sp>
      <p:sp>
        <p:nvSpPr>
          <p:cNvPr id="29" name="activity-fill-102"/>
          <p:cNvSpPr/>
          <p:nvPr/>
        </p:nvSpPr>
        <p:spPr>
          <a:xfrm>
            <a:off x="6858000" y="2298700"/>
            <a:ext cx="1879600" cy="25400"/>
          </a:xfrm>
          <a:prstGeom prst="rect">
            <a:avLst/>
          </a:prstGeom>
          <a:solidFill>
            <a:schemeClr val="tx1"/>
          </a:solidFill>
          <a:ln/>
        </p:spPr>
      </p:sp>
      <p:sp>
        <p:nvSpPr>
          <p:cNvPr id="30" name="activity-text-103"/>
          <p:cNvSpPr txBox="1"/>
          <p:nvPr/>
        </p:nvSpPr>
        <p:spPr>
          <a:xfrm>
            <a:off x="6096000" y="2895600"/>
            <a:ext cx="24130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Review</a:t>
            </a:r>
            <a:endParaRPr lang="en-US" sz="2400" dirty="0"/>
          </a:p>
        </p:txBody>
      </p:sp>
      <p:sp>
        <p:nvSpPr>
          <p:cNvPr id="31" name="activity-text-104"/>
          <p:cNvSpPr txBox="1"/>
          <p:nvPr/>
        </p:nvSpPr>
        <p:spPr>
          <a:xfrm>
            <a:off x="6096000" y="3337520"/>
            <a:ext cx="2413000" cy="1542852"/>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After each question, the screen breaks the term down: cardi + o + logy = study of the heart.</a:t>
            </a:r>
            <a:endParaRPr lang="en-US" sz="1800" dirty="0"/>
          </a:p>
        </p:txBody>
      </p:sp>
      <p:sp>
        <p:nvSpPr>
          <p:cNvPr id="32" name="activity-shadow-105"/>
          <p:cNvSpPr/>
          <p:nvPr/>
        </p:nvSpPr>
        <p:spPr>
          <a:xfrm>
            <a:off x="8801100" y="1993900"/>
            <a:ext cx="762000" cy="762000"/>
          </a:xfrm>
          <a:prstGeom prst="roundRect">
            <a:avLst>
              <a:gd name="adj" fmla="val 6667"/>
            </a:avLst>
          </a:prstGeom>
          <a:solidFill>
            <a:schemeClr val="tx1"/>
          </a:solidFill>
          <a:ln/>
        </p:spPr>
      </p:sp>
      <p:sp>
        <p:nvSpPr>
          <p:cNvPr id="33" name="activity-box-105"/>
          <p:cNvSpPr/>
          <p:nvPr/>
        </p:nvSpPr>
        <p:spPr>
          <a:xfrm>
            <a:off x="8750300" y="1943100"/>
            <a:ext cx="736600" cy="736600"/>
          </a:xfrm>
          <a:prstGeom prst="roundRect">
            <a:avLst>
              <a:gd name="adj" fmla="val 5172"/>
            </a:avLst>
          </a:prstGeom>
          <a:solidFill>
            <a:schemeClr val="accent1"/>
          </a:solidFill>
          <a:ln w="25400">
            <a:solidFill>
              <a:schemeClr val="tx1"/>
            </a:solidFill>
            <a:prstDash val="solid"/>
          </a:ln>
        </p:spPr>
      </p:sp>
      <p:sp>
        <p:nvSpPr>
          <p:cNvPr id="34" name="activity-text-106"/>
          <p:cNvSpPr txBox="1"/>
          <p:nvPr/>
        </p:nvSpPr>
        <p:spPr>
          <a:xfrm>
            <a:off x="8950127" y="2006600"/>
            <a:ext cx="336848" cy="609600"/>
          </a:xfrm>
          <a:prstGeom prst="rect">
            <a:avLst/>
          </a:prstGeom>
          <a:noFill/>
          <a:ln/>
        </p:spPr>
        <p:txBody>
          <a:bodyPr wrap="square" lIns="0" tIns="0" rIns="0" bIns="0" rtlCol="0" anchor="t"/>
          <a:lstStyle/>
          <a:p>
            <a:pPr algn="ctr" indent="0" marL="0">
              <a:lnSpc>
                <a:spcPts val="4800"/>
              </a:lnSpc>
              <a:buNone/>
            </a:pPr>
            <a:r>
              <a:rPr lang="en-US" sz="4000" b="1" dirty="0">
                <a:solidFill>
                  <a:schemeClr val="bg1"/>
                </a:solidFill>
                <a:latin typeface="+mj-lt" pitchFamily="34" charset="0"/>
                <a:ea typeface="+mj-lt" pitchFamily="34" charset="-122"/>
                <a:cs typeface="+mj-lt" pitchFamily="34" charset="-120"/>
              </a:rPr>
              <a:t>4</a:t>
            </a:r>
            <a:endParaRPr lang="en-US" sz="4000" dirty="0"/>
          </a:p>
        </p:txBody>
      </p:sp>
      <p:sp>
        <p:nvSpPr>
          <p:cNvPr id="35" name="activity-text-107"/>
          <p:cNvSpPr txBox="1"/>
          <p:nvPr/>
        </p:nvSpPr>
        <p:spPr>
          <a:xfrm>
            <a:off x="8737600" y="2895600"/>
            <a:ext cx="26670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Spend</a:t>
            </a:r>
            <a:endParaRPr lang="en-US" sz="2400" dirty="0"/>
          </a:p>
        </p:txBody>
      </p:sp>
      <p:sp>
        <p:nvSpPr>
          <p:cNvPr id="36" name="activity-text-108"/>
          <p:cNvSpPr txBox="1"/>
          <p:nvPr/>
        </p:nvSpPr>
        <p:spPr>
          <a:xfrm>
            <a:off x="8737600" y="3337520"/>
            <a:ext cx="2667000" cy="92571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XP is logged to the class record; coins go to the shop for new looks.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echanics-text-109"/>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05 · Game Mechanics</a:t>
            </a:r>
            <a:endParaRPr lang="en-US" sz="1800" dirty="0"/>
          </a:p>
        </p:txBody>
      </p:sp>
      <p:sp>
        <p:nvSpPr>
          <p:cNvPr id="3" name="mechanics-fill-110"/>
          <p:cNvSpPr/>
          <p:nvPr/>
        </p:nvSpPr>
        <p:spPr>
          <a:xfrm>
            <a:off x="5715000" y="419100"/>
            <a:ext cx="341511" cy="76200"/>
          </a:xfrm>
          <a:prstGeom prst="roundRect">
            <a:avLst>
              <a:gd name="adj" fmla="val 50000"/>
            </a:avLst>
          </a:prstGeom>
          <a:solidFill>
            <a:schemeClr val="tx1"/>
          </a:solidFill>
          <a:ln/>
        </p:spPr>
      </p:sp>
      <p:sp>
        <p:nvSpPr>
          <p:cNvPr id="4" name="mechanics-fill-111"/>
          <p:cNvSpPr/>
          <p:nvPr/>
        </p:nvSpPr>
        <p:spPr>
          <a:xfrm>
            <a:off x="6107311" y="419100"/>
            <a:ext cx="341511" cy="76200"/>
          </a:xfrm>
          <a:prstGeom prst="roundRect">
            <a:avLst>
              <a:gd name="adj" fmla="val 50000"/>
            </a:avLst>
          </a:prstGeom>
          <a:solidFill>
            <a:schemeClr val="tx1"/>
          </a:solidFill>
          <a:ln/>
        </p:spPr>
      </p:sp>
      <p:sp>
        <p:nvSpPr>
          <p:cNvPr id="5" name="mechanics-fill-112"/>
          <p:cNvSpPr/>
          <p:nvPr/>
        </p:nvSpPr>
        <p:spPr>
          <a:xfrm>
            <a:off x="6499622" y="419100"/>
            <a:ext cx="341511" cy="76200"/>
          </a:xfrm>
          <a:prstGeom prst="roundRect">
            <a:avLst>
              <a:gd name="adj" fmla="val 50000"/>
            </a:avLst>
          </a:prstGeom>
          <a:solidFill>
            <a:schemeClr val="tx1"/>
          </a:solidFill>
          <a:ln/>
        </p:spPr>
      </p:sp>
      <p:sp>
        <p:nvSpPr>
          <p:cNvPr id="6" name="mechanics-fill-113"/>
          <p:cNvSpPr/>
          <p:nvPr/>
        </p:nvSpPr>
        <p:spPr>
          <a:xfrm>
            <a:off x="6891933" y="419100"/>
            <a:ext cx="341511" cy="76200"/>
          </a:xfrm>
          <a:prstGeom prst="roundRect">
            <a:avLst>
              <a:gd name="adj" fmla="val 50000"/>
            </a:avLst>
          </a:prstGeom>
          <a:solidFill>
            <a:schemeClr val="tx1"/>
          </a:solidFill>
          <a:ln/>
        </p:spPr>
      </p:sp>
      <p:sp>
        <p:nvSpPr>
          <p:cNvPr id="7" name="mechanics-fill-114"/>
          <p:cNvSpPr/>
          <p:nvPr/>
        </p:nvSpPr>
        <p:spPr>
          <a:xfrm>
            <a:off x="7284244" y="419100"/>
            <a:ext cx="341511" cy="76200"/>
          </a:xfrm>
          <a:prstGeom prst="roundRect">
            <a:avLst>
              <a:gd name="adj" fmla="val 50000"/>
            </a:avLst>
          </a:prstGeom>
          <a:solidFill>
            <a:schemeClr val="tx1"/>
          </a:solidFill>
          <a:ln/>
        </p:spPr>
      </p:sp>
      <p:sp>
        <p:nvSpPr>
          <p:cNvPr id="8" name="mechanics-fill-115"/>
          <p:cNvSpPr/>
          <p:nvPr/>
        </p:nvSpPr>
        <p:spPr>
          <a:xfrm>
            <a:off x="7676555" y="419100"/>
            <a:ext cx="341511" cy="76200"/>
          </a:xfrm>
          <a:prstGeom prst="roundRect">
            <a:avLst>
              <a:gd name="adj" fmla="val 50000"/>
            </a:avLst>
          </a:prstGeom>
          <a:solidFill>
            <a:schemeClr val="accent1"/>
          </a:solidFill>
          <a:ln/>
        </p:spPr>
      </p:sp>
      <p:sp>
        <p:nvSpPr>
          <p:cNvPr id="9" name="mechanics-box-116"/>
          <p:cNvSpPr/>
          <p:nvPr/>
        </p:nvSpPr>
        <p:spPr>
          <a:xfrm>
            <a:off x="8075216" y="425450"/>
            <a:ext cx="354211" cy="63500"/>
          </a:xfrm>
          <a:prstGeom prst="roundRect">
            <a:avLst>
              <a:gd name="adj" fmla="val 50000"/>
            </a:avLst>
          </a:prstGeom>
          <a:ln w="12700">
            <a:solidFill>
              <a:schemeClr val="tx1"/>
            </a:solidFill>
            <a:prstDash val="solid"/>
          </a:ln>
        </p:spPr>
      </p:sp>
      <p:sp>
        <p:nvSpPr>
          <p:cNvPr id="10" name="mechanics-box-117"/>
          <p:cNvSpPr/>
          <p:nvPr/>
        </p:nvSpPr>
        <p:spPr>
          <a:xfrm>
            <a:off x="8492927" y="425450"/>
            <a:ext cx="354211" cy="63500"/>
          </a:xfrm>
          <a:prstGeom prst="roundRect">
            <a:avLst>
              <a:gd name="adj" fmla="val 50000"/>
            </a:avLst>
          </a:prstGeom>
          <a:ln w="12700">
            <a:solidFill>
              <a:schemeClr val="tx1"/>
            </a:solidFill>
            <a:prstDash val="solid"/>
          </a:ln>
        </p:spPr>
      </p:sp>
      <p:sp>
        <p:nvSpPr>
          <p:cNvPr id="11" name="mechanics-box-118"/>
          <p:cNvSpPr/>
          <p:nvPr/>
        </p:nvSpPr>
        <p:spPr>
          <a:xfrm>
            <a:off x="8910638" y="425450"/>
            <a:ext cx="354211" cy="63500"/>
          </a:xfrm>
          <a:prstGeom prst="roundRect">
            <a:avLst>
              <a:gd name="adj" fmla="val 50000"/>
            </a:avLst>
          </a:prstGeom>
          <a:ln w="12700">
            <a:solidFill>
              <a:schemeClr val="tx1"/>
            </a:solidFill>
            <a:prstDash val="solid"/>
          </a:ln>
        </p:spPr>
      </p:sp>
      <p:sp>
        <p:nvSpPr>
          <p:cNvPr id="12" name="mechanics-text-119"/>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06</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How points, grades and coins work</a:t>
            </a:r>
            <a:endParaRPr lang="en-US" sz="4000" dirty="0"/>
          </a:p>
        </p:txBody>
      </p:sp>
      <p:sp>
        <p:nvSpPr>
          <p:cNvPr id="14" name="mechanics-rule-121"/>
          <p:cNvSpPr/>
          <p:nvPr/>
        </p:nvSpPr>
        <p:spPr>
          <a:xfrm>
            <a:off x="812800" y="2303760"/>
            <a:ext cx="10566400" cy="25400"/>
          </a:xfrm>
          <a:prstGeom prst="rect">
            <a:avLst/>
          </a:prstGeom>
          <a:solidFill>
            <a:schemeClr val="tx1"/>
          </a:solidFill>
          <a:ln/>
        </p:spPr>
      </p:sp>
      <p:sp>
        <p:nvSpPr>
          <p:cNvPr id="15" name="mechanics-text-122"/>
          <p:cNvSpPr txBox="1"/>
          <p:nvPr/>
        </p:nvSpPr>
        <p:spPr>
          <a:xfrm>
            <a:off x="2463800" y="1930400"/>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Mechanic</a:t>
            </a:r>
            <a:endParaRPr lang="en-US" sz="1800" dirty="0"/>
          </a:p>
        </p:txBody>
      </p:sp>
      <p:sp>
        <p:nvSpPr>
          <p:cNvPr id="16" name="mechanics-text-123"/>
          <p:cNvSpPr txBox="1"/>
          <p:nvPr/>
        </p:nvSpPr>
        <p:spPr>
          <a:xfrm>
            <a:off x="4622800" y="1930400"/>
            <a:ext cx="67818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How it works</a:t>
            </a:r>
            <a:endParaRPr lang="en-US" sz="1800" dirty="0"/>
          </a:p>
        </p:txBody>
      </p:sp>
      <p:sp>
        <p:nvSpPr>
          <p:cNvPr id="17" name="mechanics-rule-124"/>
          <p:cNvSpPr/>
          <p:nvPr/>
        </p:nvSpPr>
        <p:spPr>
          <a:xfrm>
            <a:off x="812800" y="3022501"/>
            <a:ext cx="10566400" cy="12700"/>
          </a:xfrm>
          <a:prstGeom prst="rect">
            <a:avLst/>
          </a:prstGeom>
          <a:solidFill>
            <a:schemeClr val="tx1"/>
          </a:solidFill>
          <a:ln/>
        </p:spPr>
      </p:sp>
      <p:sp>
        <p:nvSpPr>
          <p:cNvPr id="18" name="mechanics-text-125"/>
          <p:cNvSpPr txBox="1"/>
          <p:nvPr/>
        </p:nvSpPr>
        <p:spPr>
          <a:xfrm>
            <a:off x="812800" y="2371030"/>
            <a:ext cx="1422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1,000</a:t>
            </a:r>
            <a:endParaRPr lang="en-US" sz="4000" dirty="0"/>
          </a:p>
        </p:txBody>
      </p:sp>
      <p:sp>
        <p:nvSpPr>
          <p:cNvPr id="19" name="mechanics-text-126"/>
          <p:cNvSpPr txBox="1"/>
          <p:nvPr/>
        </p:nvSpPr>
        <p:spPr>
          <a:xfrm>
            <a:off x="2463800" y="2527201"/>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Points (XP)</a:t>
            </a:r>
            <a:endParaRPr lang="en-US" sz="1800" dirty="0"/>
          </a:p>
        </p:txBody>
      </p:sp>
      <p:sp>
        <p:nvSpPr>
          <p:cNvPr id="20" name="mechanics-text-127"/>
          <p:cNvSpPr txBox="1"/>
          <p:nvPr/>
        </p:nvSpPr>
        <p:spPr>
          <a:xfrm>
            <a:off x="4622800" y="2367260"/>
            <a:ext cx="67818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Up to 1,000 per correct answer; faster answers earn more. Wrong answers earn 0.</a:t>
            </a:r>
            <a:endParaRPr lang="en-US" sz="1800" dirty="0"/>
          </a:p>
        </p:txBody>
      </p:sp>
      <p:sp>
        <p:nvSpPr>
          <p:cNvPr id="21" name="mechanics-rule-128"/>
          <p:cNvSpPr/>
          <p:nvPr/>
        </p:nvSpPr>
        <p:spPr>
          <a:xfrm>
            <a:off x="812800" y="3721001"/>
            <a:ext cx="10566400" cy="12700"/>
          </a:xfrm>
          <a:prstGeom prst="rect">
            <a:avLst/>
          </a:prstGeom>
          <a:solidFill>
            <a:schemeClr val="tx1"/>
          </a:solidFill>
          <a:ln/>
        </p:spPr>
      </p:sp>
      <p:sp>
        <p:nvSpPr>
          <p:cNvPr id="22" name="mechanics-text-129"/>
          <p:cNvSpPr txBox="1"/>
          <p:nvPr/>
        </p:nvSpPr>
        <p:spPr>
          <a:xfrm>
            <a:off x="812800" y="3073301"/>
            <a:ext cx="1422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+200</a:t>
            </a:r>
            <a:endParaRPr lang="en-US" sz="4000" dirty="0"/>
          </a:p>
        </p:txBody>
      </p:sp>
      <p:sp>
        <p:nvSpPr>
          <p:cNvPr id="23" name="mechanics-text-130"/>
          <p:cNvSpPr txBox="1"/>
          <p:nvPr/>
        </p:nvSpPr>
        <p:spPr>
          <a:xfrm>
            <a:off x="2463800" y="3229471"/>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Streak bonus</a:t>
            </a:r>
            <a:endParaRPr lang="en-US" sz="1800" dirty="0"/>
          </a:p>
        </p:txBody>
      </p:sp>
      <p:sp>
        <p:nvSpPr>
          <p:cNvPr id="24" name="mechanics-text-131"/>
          <p:cNvSpPr txBox="1"/>
          <p:nvPr/>
        </p:nvSpPr>
        <p:spPr>
          <a:xfrm>
            <a:off x="4622800" y="3223816"/>
            <a:ext cx="6781800" cy="308570"/>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3 correct in a row adds +200 XP and keeps stacking.</a:t>
            </a:r>
            <a:endParaRPr lang="en-US" sz="1800" dirty="0"/>
          </a:p>
        </p:txBody>
      </p:sp>
      <p:sp>
        <p:nvSpPr>
          <p:cNvPr id="25" name="mechanics-rule-132"/>
          <p:cNvSpPr/>
          <p:nvPr/>
        </p:nvSpPr>
        <p:spPr>
          <a:xfrm>
            <a:off x="812800" y="4427041"/>
            <a:ext cx="10566400" cy="12700"/>
          </a:xfrm>
          <a:prstGeom prst="rect">
            <a:avLst/>
          </a:prstGeom>
          <a:solidFill>
            <a:schemeClr val="tx1"/>
          </a:solidFill>
          <a:ln/>
        </p:spPr>
      </p:sp>
      <p:sp>
        <p:nvSpPr>
          <p:cNvPr id="26" name="mechanics-text-133"/>
          <p:cNvSpPr txBox="1"/>
          <p:nvPr/>
        </p:nvSpPr>
        <p:spPr>
          <a:xfrm>
            <a:off x="812800" y="3775571"/>
            <a:ext cx="1422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+5</a:t>
            </a:r>
            <a:endParaRPr lang="en-US" sz="4000" dirty="0"/>
          </a:p>
        </p:txBody>
      </p:sp>
      <p:sp>
        <p:nvSpPr>
          <p:cNvPr id="27" name="mechanics-text-134"/>
          <p:cNvSpPr txBox="1"/>
          <p:nvPr/>
        </p:nvSpPr>
        <p:spPr>
          <a:xfrm>
            <a:off x="2463800" y="3931741"/>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Grade incentive</a:t>
            </a:r>
            <a:endParaRPr lang="en-US" sz="1800" dirty="0"/>
          </a:p>
        </p:txBody>
      </p:sp>
      <p:sp>
        <p:nvSpPr>
          <p:cNvPr id="28" name="mechanics-text-135"/>
          <p:cNvSpPr txBox="1"/>
          <p:nvPr/>
        </p:nvSpPr>
        <p:spPr>
          <a:xfrm>
            <a:off x="4622800" y="3771801"/>
            <a:ext cx="67818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Every 1,000 XP = +1 bonus point in class standing, capped at +5 per term.</a:t>
            </a:r>
            <a:endParaRPr lang="en-US" sz="1800" dirty="0"/>
          </a:p>
        </p:txBody>
      </p:sp>
      <p:sp>
        <p:nvSpPr>
          <p:cNvPr id="29" name="mechanics-rule-136"/>
          <p:cNvSpPr/>
          <p:nvPr/>
        </p:nvSpPr>
        <p:spPr>
          <a:xfrm>
            <a:off x="812800" y="5125541"/>
            <a:ext cx="10566400" cy="12700"/>
          </a:xfrm>
          <a:prstGeom prst="rect">
            <a:avLst/>
          </a:prstGeom>
          <a:solidFill>
            <a:schemeClr val="tx1"/>
          </a:solidFill>
          <a:ln/>
        </p:spPr>
      </p:sp>
      <p:sp>
        <p:nvSpPr>
          <p:cNvPr id="30" name="mechanics-text-137"/>
          <p:cNvSpPr txBox="1"/>
          <p:nvPr/>
        </p:nvSpPr>
        <p:spPr>
          <a:xfrm>
            <a:off x="812800" y="4477841"/>
            <a:ext cx="1422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10</a:t>
            </a:r>
            <a:endParaRPr lang="en-US" sz="4000" dirty="0"/>
          </a:p>
        </p:txBody>
      </p:sp>
      <p:sp>
        <p:nvSpPr>
          <p:cNvPr id="31" name="mechanics-text-138"/>
          <p:cNvSpPr txBox="1"/>
          <p:nvPr/>
        </p:nvSpPr>
        <p:spPr>
          <a:xfrm>
            <a:off x="2463800" y="4634012"/>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Coins</a:t>
            </a:r>
            <a:endParaRPr lang="en-US" sz="1800" dirty="0"/>
          </a:p>
        </p:txBody>
      </p:sp>
      <p:sp>
        <p:nvSpPr>
          <p:cNvPr id="32" name="mechanics-text-139"/>
          <p:cNvSpPr txBox="1"/>
          <p:nvPr/>
        </p:nvSpPr>
        <p:spPr>
          <a:xfrm>
            <a:off x="4622800" y="4628356"/>
            <a:ext cx="6781800" cy="308570"/>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10 coins per correct answer, plus 25 for finishing in the top 3.</a:t>
            </a:r>
            <a:endParaRPr lang="en-US" sz="1800" dirty="0"/>
          </a:p>
        </p:txBody>
      </p:sp>
      <p:sp>
        <p:nvSpPr>
          <p:cNvPr id="33" name="mechanics-rule-140"/>
          <p:cNvSpPr/>
          <p:nvPr/>
        </p:nvSpPr>
        <p:spPr>
          <a:xfrm>
            <a:off x="812800" y="5831582"/>
            <a:ext cx="10566400" cy="12700"/>
          </a:xfrm>
          <a:prstGeom prst="rect">
            <a:avLst/>
          </a:prstGeom>
          <a:solidFill>
            <a:schemeClr val="tx1"/>
          </a:solidFill>
          <a:ln/>
        </p:spPr>
      </p:sp>
      <p:sp>
        <p:nvSpPr>
          <p:cNvPr id="34" name="mechanics-text-141"/>
          <p:cNvSpPr txBox="1"/>
          <p:nvPr/>
        </p:nvSpPr>
        <p:spPr>
          <a:xfrm>
            <a:off x="812800" y="5180112"/>
            <a:ext cx="1422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Top 5</a:t>
            </a:r>
            <a:endParaRPr lang="en-US" sz="4000" dirty="0"/>
          </a:p>
        </p:txBody>
      </p:sp>
      <p:sp>
        <p:nvSpPr>
          <p:cNvPr id="35" name="mechanics-text-142"/>
          <p:cNvSpPr txBox="1"/>
          <p:nvPr/>
        </p:nvSpPr>
        <p:spPr>
          <a:xfrm>
            <a:off x="2463800" y="5336282"/>
            <a:ext cx="1930400" cy="297160"/>
          </a:xfrm>
          <a:prstGeom prst="rect">
            <a:avLst/>
          </a:prstGeom>
          <a:noFill/>
          <a:ln/>
        </p:spPr>
        <p:txBody>
          <a:bodyPr wrap="square" lIns="0" tIns="0" rIns="0" bIns="0" rtlCol="0" anchor="t"/>
          <a:lstStyle/>
          <a:p>
            <a:pPr algn="l" indent="0" marL="0">
              <a:lnSpc>
                <a:spcPts val="2340"/>
              </a:lnSpc>
              <a:buNone/>
            </a:pPr>
            <a:r>
              <a:rPr lang="en-US" sz="1800" b="1" dirty="0">
                <a:solidFill>
                  <a:schemeClr val="tx1"/>
                </a:solidFill>
              </a:rPr>
              <a:t>Leaderboard</a:t>
            </a:r>
            <a:endParaRPr lang="en-US" sz="1800" dirty="0"/>
          </a:p>
        </p:txBody>
      </p:sp>
      <p:sp>
        <p:nvSpPr>
          <p:cNvPr id="36" name="mechanics-text-143"/>
          <p:cNvSpPr txBox="1"/>
          <p:nvPr/>
        </p:nvSpPr>
        <p:spPr>
          <a:xfrm>
            <a:off x="4622800" y="5176341"/>
            <a:ext cx="67818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Top 5 shown after each question; full ranking at the end of the round.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wards-text-144"/>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bg1"/>
                </a:solidFill>
              </a:rPr>
              <a:t>06 · Rewards &amp; Customization</a:t>
            </a:r>
            <a:endParaRPr lang="en-US" sz="1800" dirty="0"/>
          </a:p>
        </p:txBody>
      </p:sp>
      <p:sp>
        <p:nvSpPr>
          <p:cNvPr id="3" name="rewards-fill-145"/>
          <p:cNvSpPr/>
          <p:nvPr/>
        </p:nvSpPr>
        <p:spPr>
          <a:xfrm>
            <a:off x="5715000" y="419100"/>
            <a:ext cx="344289" cy="76200"/>
          </a:xfrm>
          <a:prstGeom prst="roundRect">
            <a:avLst>
              <a:gd name="adj" fmla="val 50000"/>
            </a:avLst>
          </a:prstGeom>
          <a:solidFill>
            <a:schemeClr val="bg1"/>
          </a:solidFill>
          <a:ln/>
        </p:spPr>
      </p:sp>
      <p:sp>
        <p:nvSpPr>
          <p:cNvPr id="4" name="rewards-fill-146"/>
          <p:cNvSpPr/>
          <p:nvPr/>
        </p:nvSpPr>
        <p:spPr>
          <a:xfrm>
            <a:off x="6110089" y="419100"/>
            <a:ext cx="344289" cy="76200"/>
          </a:xfrm>
          <a:prstGeom prst="roundRect">
            <a:avLst>
              <a:gd name="adj" fmla="val 50000"/>
            </a:avLst>
          </a:prstGeom>
          <a:solidFill>
            <a:schemeClr val="bg1"/>
          </a:solidFill>
          <a:ln/>
        </p:spPr>
      </p:sp>
      <p:sp>
        <p:nvSpPr>
          <p:cNvPr id="5" name="rewards-fill-147"/>
          <p:cNvSpPr/>
          <p:nvPr/>
        </p:nvSpPr>
        <p:spPr>
          <a:xfrm>
            <a:off x="6505178" y="419100"/>
            <a:ext cx="344289" cy="76200"/>
          </a:xfrm>
          <a:prstGeom prst="roundRect">
            <a:avLst>
              <a:gd name="adj" fmla="val 50000"/>
            </a:avLst>
          </a:prstGeom>
          <a:solidFill>
            <a:schemeClr val="bg1"/>
          </a:solidFill>
          <a:ln/>
        </p:spPr>
      </p:sp>
      <p:sp>
        <p:nvSpPr>
          <p:cNvPr id="6" name="rewards-fill-148"/>
          <p:cNvSpPr/>
          <p:nvPr/>
        </p:nvSpPr>
        <p:spPr>
          <a:xfrm>
            <a:off x="6900267" y="419100"/>
            <a:ext cx="344289" cy="76200"/>
          </a:xfrm>
          <a:prstGeom prst="roundRect">
            <a:avLst>
              <a:gd name="adj" fmla="val 50000"/>
            </a:avLst>
          </a:prstGeom>
          <a:solidFill>
            <a:schemeClr val="bg1"/>
          </a:solidFill>
          <a:ln/>
        </p:spPr>
      </p:sp>
      <p:sp>
        <p:nvSpPr>
          <p:cNvPr id="7" name="rewards-fill-149"/>
          <p:cNvSpPr/>
          <p:nvPr/>
        </p:nvSpPr>
        <p:spPr>
          <a:xfrm>
            <a:off x="7295356" y="419100"/>
            <a:ext cx="344289" cy="76200"/>
          </a:xfrm>
          <a:prstGeom prst="roundRect">
            <a:avLst>
              <a:gd name="adj" fmla="val 50000"/>
            </a:avLst>
          </a:prstGeom>
          <a:solidFill>
            <a:schemeClr val="bg1"/>
          </a:solidFill>
          <a:ln/>
        </p:spPr>
      </p:sp>
      <p:sp>
        <p:nvSpPr>
          <p:cNvPr id="8" name="rewards-fill-150"/>
          <p:cNvSpPr/>
          <p:nvPr/>
        </p:nvSpPr>
        <p:spPr>
          <a:xfrm>
            <a:off x="7690445" y="419100"/>
            <a:ext cx="344289" cy="76200"/>
          </a:xfrm>
          <a:prstGeom prst="roundRect">
            <a:avLst>
              <a:gd name="adj" fmla="val 50000"/>
            </a:avLst>
          </a:prstGeom>
          <a:solidFill>
            <a:schemeClr val="bg1"/>
          </a:solidFill>
          <a:ln/>
        </p:spPr>
      </p:sp>
      <p:sp>
        <p:nvSpPr>
          <p:cNvPr id="9" name="rewards-fill-151"/>
          <p:cNvSpPr/>
          <p:nvPr/>
        </p:nvSpPr>
        <p:spPr>
          <a:xfrm>
            <a:off x="8085534" y="419100"/>
            <a:ext cx="344289" cy="76200"/>
          </a:xfrm>
          <a:prstGeom prst="roundRect">
            <a:avLst>
              <a:gd name="adj" fmla="val 50000"/>
            </a:avLst>
          </a:prstGeom>
          <a:solidFill>
            <a:schemeClr val="tx1"/>
          </a:solidFill>
          <a:ln/>
        </p:spPr>
      </p:sp>
      <p:sp>
        <p:nvSpPr>
          <p:cNvPr id="10" name="rewards-box-152"/>
          <p:cNvSpPr/>
          <p:nvPr/>
        </p:nvSpPr>
        <p:spPr>
          <a:xfrm>
            <a:off x="8486973" y="425450"/>
            <a:ext cx="356989" cy="63500"/>
          </a:xfrm>
          <a:prstGeom prst="roundRect">
            <a:avLst>
              <a:gd name="adj" fmla="val 50000"/>
            </a:avLst>
          </a:prstGeom>
          <a:ln w="12700">
            <a:solidFill>
              <a:schemeClr val="bg1"/>
            </a:solidFill>
            <a:prstDash val="solid"/>
          </a:ln>
        </p:spPr>
      </p:sp>
      <p:sp>
        <p:nvSpPr>
          <p:cNvPr id="11" name="rewards-box-153"/>
          <p:cNvSpPr/>
          <p:nvPr/>
        </p:nvSpPr>
        <p:spPr>
          <a:xfrm>
            <a:off x="8907463" y="425450"/>
            <a:ext cx="356989" cy="63500"/>
          </a:xfrm>
          <a:prstGeom prst="roundRect">
            <a:avLst>
              <a:gd name="adj" fmla="val 50000"/>
            </a:avLst>
          </a:prstGeom>
          <a:ln w="12700">
            <a:solidFill>
              <a:schemeClr val="bg1"/>
            </a:solidFill>
            <a:prstDash val="solid"/>
          </a:ln>
        </p:spPr>
      </p:sp>
      <p:sp>
        <p:nvSpPr>
          <p:cNvPr id="12" name="rewards-text-154"/>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bg1"/>
                </a:solidFill>
              </a:rPr>
              <a:t>XP Arena · 07</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bg1"/>
                </a:solidFill>
                <a:latin typeface="+mj-lt" pitchFamily="34" charset="0"/>
                <a:ea typeface="+mj-lt" pitchFamily="34" charset="-122"/>
                <a:cs typeface="+mj-lt" pitchFamily="34" charset="-120"/>
              </a:rPr>
              <a:t>Coins buy the look, not the grade</a:t>
            </a:r>
            <a:endParaRPr lang="en-US" sz="4000" dirty="0"/>
          </a:p>
        </p:txBody>
      </p:sp>
      <p:sp>
        <p:nvSpPr>
          <p:cNvPr id="14" name="rewards-text-156"/>
          <p:cNvSpPr txBox="1"/>
          <p:nvPr/>
        </p:nvSpPr>
        <p:spPr>
          <a:xfrm>
            <a:off x="812800" y="1930400"/>
            <a:ext cx="5105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bg1"/>
                </a:solidFill>
                <a:latin typeface="+mj-lt" pitchFamily="34" charset="0"/>
                <a:ea typeface="+mj-lt" pitchFamily="34" charset="-122"/>
                <a:cs typeface="+mj-lt" pitchFamily="34" charset="-120"/>
              </a:rPr>
              <a:t>Coin Shop</a:t>
            </a:r>
            <a:endParaRPr lang="en-US" sz="2400" dirty="0"/>
          </a:p>
        </p:txBody>
      </p:sp>
      <p:sp>
        <p:nvSpPr>
          <p:cNvPr id="15" name="rewards-shadow-157"/>
          <p:cNvSpPr/>
          <p:nvPr/>
        </p:nvSpPr>
        <p:spPr>
          <a:xfrm>
            <a:off x="863600" y="2499320"/>
            <a:ext cx="5080000" cy="641350"/>
          </a:xfrm>
          <a:prstGeom prst="roundRect">
            <a:avLst>
              <a:gd name="adj" fmla="val 7921"/>
            </a:avLst>
          </a:prstGeom>
          <a:solidFill>
            <a:schemeClr val="tx1"/>
          </a:solidFill>
          <a:ln/>
        </p:spPr>
      </p:sp>
      <p:sp>
        <p:nvSpPr>
          <p:cNvPr id="16" name="rewards-box-157"/>
          <p:cNvSpPr/>
          <p:nvPr/>
        </p:nvSpPr>
        <p:spPr>
          <a:xfrm>
            <a:off x="825500" y="2461220"/>
            <a:ext cx="5054600" cy="615950"/>
          </a:xfrm>
          <a:prstGeom prst="roundRect">
            <a:avLst>
              <a:gd name="adj" fmla="val 6186"/>
            </a:avLst>
          </a:prstGeom>
          <a:solidFill>
            <a:schemeClr val="bg1"/>
          </a:solidFill>
          <a:ln w="25400">
            <a:solidFill>
              <a:schemeClr val="tx1"/>
            </a:solidFill>
            <a:prstDash val="solid"/>
          </a:ln>
        </p:spPr>
      </p:sp>
      <p:sp>
        <p:nvSpPr>
          <p:cNvPr id="17" name="rewards-text-158"/>
          <p:cNvSpPr txBox="1"/>
          <p:nvPr/>
        </p:nvSpPr>
        <p:spPr>
          <a:xfrm>
            <a:off x="1041400" y="262632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Avatars: doctors, nurses, lab techs, mascots</a:t>
            </a:r>
            <a:endParaRPr lang="en-US" sz="1800" dirty="0"/>
          </a:p>
        </p:txBody>
      </p:sp>
      <p:sp>
        <p:nvSpPr>
          <p:cNvPr id="18" name="rewards-shadow-159"/>
          <p:cNvSpPr/>
          <p:nvPr/>
        </p:nvSpPr>
        <p:spPr>
          <a:xfrm>
            <a:off x="863600" y="3318470"/>
            <a:ext cx="5080000" cy="641350"/>
          </a:xfrm>
          <a:prstGeom prst="roundRect">
            <a:avLst>
              <a:gd name="adj" fmla="val 7921"/>
            </a:avLst>
          </a:prstGeom>
          <a:solidFill>
            <a:schemeClr val="tx1"/>
          </a:solidFill>
          <a:ln/>
        </p:spPr>
      </p:sp>
      <p:sp>
        <p:nvSpPr>
          <p:cNvPr id="19" name="rewards-box-159"/>
          <p:cNvSpPr/>
          <p:nvPr/>
        </p:nvSpPr>
        <p:spPr>
          <a:xfrm>
            <a:off x="825500" y="3280370"/>
            <a:ext cx="5054600" cy="615950"/>
          </a:xfrm>
          <a:prstGeom prst="roundRect">
            <a:avLst>
              <a:gd name="adj" fmla="val 6186"/>
            </a:avLst>
          </a:prstGeom>
          <a:solidFill>
            <a:schemeClr val="bg1"/>
          </a:solidFill>
          <a:ln w="25400">
            <a:solidFill>
              <a:schemeClr val="tx1"/>
            </a:solidFill>
            <a:prstDash val="solid"/>
          </a:ln>
        </p:spPr>
      </p:sp>
      <p:sp>
        <p:nvSpPr>
          <p:cNvPr id="20" name="rewards-text-160"/>
          <p:cNvSpPr txBox="1"/>
          <p:nvPr/>
        </p:nvSpPr>
        <p:spPr>
          <a:xfrm>
            <a:off x="1041400" y="344547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Skins and outfits for each avatar</a:t>
            </a:r>
            <a:endParaRPr lang="en-US" sz="1800" dirty="0"/>
          </a:p>
        </p:txBody>
      </p:sp>
      <p:sp>
        <p:nvSpPr>
          <p:cNvPr id="21" name="rewards-shadow-161"/>
          <p:cNvSpPr/>
          <p:nvPr/>
        </p:nvSpPr>
        <p:spPr>
          <a:xfrm>
            <a:off x="863600" y="4137620"/>
            <a:ext cx="5080000" cy="641350"/>
          </a:xfrm>
          <a:prstGeom prst="roundRect">
            <a:avLst>
              <a:gd name="adj" fmla="val 7921"/>
            </a:avLst>
          </a:prstGeom>
          <a:solidFill>
            <a:schemeClr val="tx1"/>
          </a:solidFill>
          <a:ln/>
        </p:spPr>
      </p:sp>
      <p:sp>
        <p:nvSpPr>
          <p:cNvPr id="22" name="rewards-box-161"/>
          <p:cNvSpPr/>
          <p:nvPr/>
        </p:nvSpPr>
        <p:spPr>
          <a:xfrm>
            <a:off x="825500" y="4099520"/>
            <a:ext cx="5054600" cy="615950"/>
          </a:xfrm>
          <a:prstGeom prst="roundRect">
            <a:avLst>
              <a:gd name="adj" fmla="val 6186"/>
            </a:avLst>
          </a:prstGeom>
          <a:solidFill>
            <a:schemeClr val="bg1"/>
          </a:solidFill>
          <a:ln w="25400">
            <a:solidFill>
              <a:schemeClr val="tx1"/>
            </a:solidFill>
            <a:prstDash val="solid"/>
          </a:ln>
        </p:spPr>
      </p:sp>
      <p:sp>
        <p:nvSpPr>
          <p:cNvPr id="23" name="rewards-text-162"/>
          <p:cNvSpPr txBox="1"/>
          <p:nvPr/>
        </p:nvSpPr>
        <p:spPr>
          <a:xfrm>
            <a:off x="1041400" y="426462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Nameplates and profile frames</a:t>
            </a:r>
            <a:endParaRPr lang="en-US" sz="1800" dirty="0"/>
          </a:p>
        </p:txBody>
      </p:sp>
      <p:sp>
        <p:nvSpPr>
          <p:cNvPr id="24" name="rewards-shadow-163"/>
          <p:cNvSpPr/>
          <p:nvPr/>
        </p:nvSpPr>
        <p:spPr>
          <a:xfrm>
            <a:off x="863600" y="4956770"/>
            <a:ext cx="5080000" cy="641350"/>
          </a:xfrm>
          <a:prstGeom prst="roundRect">
            <a:avLst>
              <a:gd name="adj" fmla="val 7921"/>
            </a:avLst>
          </a:prstGeom>
          <a:solidFill>
            <a:schemeClr val="tx1"/>
          </a:solidFill>
          <a:ln/>
        </p:spPr>
      </p:sp>
      <p:sp>
        <p:nvSpPr>
          <p:cNvPr id="25" name="rewards-box-163"/>
          <p:cNvSpPr/>
          <p:nvPr/>
        </p:nvSpPr>
        <p:spPr>
          <a:xfrm>
            <a:off x="825500" y="4918670"/>
            <a:ext cx="5054600" cy="615950"/>
          </a:xfrm>
          <a:prstGeom prst="roundRect">
            <a:avLst>
              <a:gd name="adj" fmla="val 6186"/>
            </a:avLst>
          </a:prstGeom>
          <a:solidFill>
            <a:schemeClr val="bg1"/>
          </a:solidFill>
          <a:ln w="25400">
            <a:solidFill>
              <a:schemeClr val="tx1"/>
            </a:solidFill>
            <a:prstDash val="solid"/>
          </a:ln>
        </p:spPr>
      </p:sp>
      <p:sp>
        <p:nvSpPr>
          <p:cNvPr id="26" name="rewards-text-164"/>
          <p:cNvSpPr txBox="1"/>
          <p:nvPr/>
        </p:nvSpPr>
        <p:spPr>
          <a:xfrm>
            <a:off x="1041400" y="508377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Answer-card themes and victory emotes</a:t>
            </a:r>
            <a:endParaRPr lang="en-US" sz="1800" dirty="0"/>
          </a:p>
        </p:txBody>
      </p:sp>
      <p:sp>
        <p:nvSpPr>
          <p:cNvPr id="27" name="rewards-text-165"/>
          <p:cNvSpPr txBox="1"/>
          <p:nvPr/>
        </p:nvSpPr>
        <p:spPr>
          <a:xfrm>
            <a:off x="6299200" y="1930400"/>
            <a:ext cx="5105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bg1"/>
                </a:solidFill>
                <a:latin typeface="+mj-lt" pitchFamily="34" charset="0"/>
                <a:ea typeface="+mj-lt" pitchFamily="34" charset="-122"/>
                <a:cs typeface="+mj-lt" pitchFamily="34" charset="-120"/>
              </a:rPr>
              <a:t>Flexible Customization</a:t>
            </a:r>
            <a:endParaRPr lang="en-US" sz="2400" dirty="0"/>
          </a:p>
        </p:txBody>
      </p:sp>
      <p:sp>
        <p:nvSpPr>
          <p:cNvPr id="28" name="rewards-shadow-166"/>
          <p:cNvSpPr/>
          <p:nvPr/>
        </p:nvSpPr>
        <p:spPr>
          <a:xfrm>
            <a:off x="6350000" y="2499320"/>
            <a:ext cx="5080000" cy="641350"/>
          </a:xfrm>
          <a:prstGeom prst="roundRect">
            <a:avLst>
              <a:gd name="adj" fmla="val 7921"/>
            </a:avLst>
          </a:prstGeom>
          <a:solidFill>
            <a:schemeClr val="tx1"/>
          </a:solidFill>
          <a:ln/>
        </p:spPr>
      </p:sp>
      <p:sp>
        <p:nvSpPr>
          <p:cNvPr id="29" name="rewards-box-166"/>
          <p:cNvSpPr/>
          <p:nvPr/>
        </p:nvSpPr>
        <p:spPr>
          <a:xfrm>
            <a:off x="6311900" y="2461220"/>
            <a:ext cx="5054600" cy="615950"/>
          </a:xfrm>
          <a:prstGeom prst="roundRect">
            <a:avLst>
              <a:gd name="adj" fmla="val 6186"/>
            </a:avLst>
          </a:prstGeom>
          <a:solidFill>
            <a:schemeClr val="bg1"/>
          </a:solidFill>
          <a:ln w="25400">
            <a:solidFill>
              <a:schemeClr val="tx1"/>
            </a:solidFill>
            <a:prstDash val="solid"/>
          </a:ln>
        </p:spPr>
      </p:sp>
      <p:sp>
        <p:nvSpPr>
          <p:cNvPr id="30" name="rewards-text-167"/>
          <p:cNvSpPr txBox="1"/>
          <p:nvPr/>
        </p:nvSpPr>
        <p:spPr>
          <a:xfrm>
            <a:off x="6527800" y="262632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Mix and match any owned items</a:t>
            </a:r>
            <a:endParaRPr lang="en-US" sz="1800" dirty="0"/>
          </a:p>
        </p:txBody>
      </p:sp>
      <p:sp>
        <p:nvSpPr>
          <p:cNvPr id="31" name="rewards-shadow-168"/>
          <p:cNvSpPr/>
          <p:nvPr/>
        </p:nvSpPr>
        <p:spPr>
          <a:xfrm>
            <a:off x="6350000" y="3318470"/>
            <a:ext cx="5080000" cy="641350"/>
          </a:xfrm>
          <a:prstGeom prst="roundRect">
            <a:avLst>
              <a:gd name="adj" fmla="val 7921"/>
            </a:avLst>
          </a:prstGeom>
          <a:solidFill>
            <a:schemeClr val="tx1"/>
          </a:solidFill>
          <a:ln/>
        </p:spPr>
      </p:sp>
      <p:sp>
        <p:nvSpPr>
          <p:cNvPr id="32" name="rewards-box-168"/>
          <p:cNvSpPr/>
          <p:nvPr/>
        </p:nvSpPr>
        <p:spPr>
          <a:xfrm>
            <a:off x="6311900" y="3280370"/>
            <a:ext cx="5054600" cy="615950"/>
          </a:xfrm>
          <a:prstGeom prst="roundRect">
            <a:avLst>
              <a:gd name="adj" fmla="val 6186"/>
            </a:avLst>
          </a:prstGeom>
          <a:solidFill>
            <a:schemeClr val="bg1"/>
          </a:solidFill>
          <a:ln w="25400">
            <a:solidFill>
              <a:schemeClr val="tx1"/>
            </a:solidFill>
            <a:prstDash val="solid"/>
          </a:ln>
        </p:spPr>
      </p:sp>
      <p:sp>
        <p:nvSpPr>
          <p:cNvPr id="33" name="rewards-text-169"/>
          <p:cNvSpPr txBox="1"/>
          <p:nvPr/>
        </p:nvSpPr>
        <p:spPr>
          <a:xfrm>
            <a:off x="6527800" y="344547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Color picker for outfits and frames</a:t>
            </a:r>
            <a:endParaRPr lang="en-US" sz="1800" dirty="0"/>
          </a:p>
        </p:txBody>
      </p:sp>
      <p:sp>
        <p:nvSpPr>
          <p:cNvPr id="34" name="rewards-shadow-170"/>
          <p:cNvSpPr/>
          <p:nvPr/>
        </p:nvSpPr>
        <p:spPr>
          <a:xfrm>
            <a:off x="6350000" y="4137620"/>
            <a:ext cx="5080000" cy="641350"/>
          </a:xfrm>
          <a:prstGeom prst="roundRect">
            <a:avLst>
              <a:gd name="adj" fmla="val 7921"/>
            </a:avLst>
          </a:prstGeom>
          <a:solidFill>
            <a:schemeClr val="tx1"/>
          </a:solidFill>
          <a:ln/>
        </p:spPr>
      </p:sp>
      <p:sp>
        <p:nvSpPr>
          <p:cNvPr id="35" name="rewards-box-170"/>
          <p:cNvSpPr/>
          <p:nvPr/>
        </p:nvSpPr>
        <p:spPr>
          <a:xfrm>
            <a:off x="6311900" y="4099520"/>
            <a:ext cx="5054600" cy="615950"/>
          </a:xfrm>
          <a:prstGeom prst="roundRect">
            <a:avLst>
              <a:gd name="adj" fmla="val 6186"/>
            </a:avLst>
          </a:prstGeom>
          <a:solidFill>
            <a:schemeClr val="bg1"/>
          </a:solidFill>
          <a:ln w="25400">
            <a:solidFill>
              <a:schemeClr val="tx1"/>
            </a:solidFill>
            <a:prstDash val="solid"/>
          </a:ln>
        </p:spPr>
      </p:sp>
      <p:sp>
        <p:nvSpPr>
          <p:cNvPr id="36" name="rewards-text-171"/>
          <p:cNvSpPr txBox="1"/>
          <p:nvPr/>
        </p:nvSpPr>
        <p:spPr>
          <a:xfrm>
            <a:off x="6527800" y="426462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Save up to 3 loadouts and swap anytime</a:t>
            </a:r>
            <a:endParaRPr lang="en-US" sz="1800" dirty="0"/>
          </a:p>
        </p:txBody>
      </p:sp>
      <p:sp>
        <p:nvSpPr>
          <p:cNvPr id="37" name="rewards-shadow-172"/>
          <p:cNvSpPr/>
          <p:nvPr/>
        </p:nvSpPr>
        <p:spPr>
          <a:xfrm>
            <a:off x="6350000" y="4956770"/>
            <a:ext cx="5080000" cy="641350"/>
          </a:xfrm>
          <a:prstGeom prst="roundRect">
            <a:avLst>
              <a:gd name="adj" fmla="val 7921"/>
            </a:avLst>
          </a:prstGeom>
          <a:solidFill>
            <a:schemeClr val="tx1"/>
          </a:solidFill>
          <a:ln/>
        </p:spPr>
      </p:sp>
      <p:sp>
        <p:nvSpPr>
          <p:cNvPr id="38" name="rewards-box-172"/>
          <p:cNvSpPr/>
          <p:nvPr/>
        </p:nvSpPr>
        <p:spPr>
          <a:xfrm>
            <a:off x="6311900" y="4918670"/>
            <a:ext cx="5054600" cy="615950"/>
          </a:xfrm>
          <a:prstGeom prst="roundRect">
            <a:avLst>
              <a:gd name="adj" fmla="val 6186"/>
            </a:avLst>
          </a:prstGeom>
          <a:solidFill>
            <a:schemeClr val="bg1"/>
          </a:solidFill>
          <a:ln w="25400">
            <a:solidFill>
              <a:schemeClr val="tx1"/>
            </a:solidFill>
            <a:prstDash val="solid"/>
          </a:ln>
        </p:spPr>
      </p:sp>
      <p:sp>
        <p:nvSpPr>
          <p:cNvPr id="39" name="rewards-text-173"/>
          <p:cNvSpPr txBox="1"/>
          <p:nvPr/>
        </p:nvSpPr>
        <p:spPr>
          <a:xfrm>
            <a:off x="6527800" y="5083770"/>
            <a:ext cx="4648200" cy="285750"/>
          </a:xfrm>
          <a:prstGeom prst="rect">
            <a:avLst/>
          </a:prstGeom>
          <a:noFill/>
          <a:ln/>
        </p:spPr>
        <p:txBody>
          <a:bodyPr wrap="square" lIns="0" tIns="0" rIns="0" bIns="0" rtlCol="0" anchor="t"/>
          <a:lstStyle/>
          <a:p>
            <a:pPr algn="l" indent="0" marL="0">
              <a:lnSpc>
                <a:spcPts val="2250"/>
              </a:lnSpc>
              <a:buNone/>
            </a:pPr>
            <a:r>
              <a:rPr lang="en-US" sz="1800" dirty="0">
                <a:solidFill>
                  <a:schemeClr val="tx1"/>
                </a:solidFill>
              </a:rPr>
              <a:t>Seasonal items unlocked by streaks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utcome-text-174"/>
          <p:cNvSpPr txBox="1"/>
          <p:nvPr/>
        </p:nvSpPr>
        <p:spPr>
          <a:xfrm>
            <a:off x="812800" y="304800"/>
            <a:ext cx="4851400" cy="297160"/>
          </a:xfrm>
          <a:prstGeom prst="rect">
            <a:avLst/>
          </a:prstGeom>
          <a:noFill/>
          <a:ln/>
        </p:spPr>
        <p:txBody>
          <a:bodyPr wrap="none" lIns="0" tIns="0" rIns="0" bIns="0" rtlCol="0" anchor="t"/>
          <a:lstStyle/>
          <a:p>
            <a:pPr algn="l" indent="0" marL="0">
              <a:lnSpc>
                <a:spcPts val="2340"/>
              </a:lnSpc>
              <a:buNone/>
            </a:pPr>
            <a:r>
              <a:rPr lang="en-US" sz="1800" b="1" dirty="0">
                <a:solidFill>
                  <a:schemeClr val="accent1"/>
                </a:solidFill>
              </a:rPr>
              <a:t>07 · Expected Learning Outcome</a:t>
            </a:r>
            <a:endParaRPr lang="en-US" sz="1800" dirty="0"/>
          </a:p>
        </p:txBody>
      </p:sp>
      <p:sp>
        <p:nvSpPr>
          <p:cNvPr id="3" name="outcome-fill-175"/>
          <p:cNvSpPr/>
          <p:nvPr/>
        </p:nvSpPr>
        <p:spPr>
          <a:xfrm>
            <a:off x="5715000" y="419100"/>
            <a:ext cx="347166" cy="76200"/>
          </a:xfrm>
          <a:prstGeom prst="roundRect">
            <a:avLst>
              <a:gd name="adj" fmla="val 50000"/>
            </a:avLst>
          </a:prstGeom>
          <a:solidFill>
            <a:schemeClr val="tx1"/>
          </a:solidFill>
          <a:ln/>
        </p:spPr>
      </p:sp>
      <p:sp>
        <p:nvSpPr>
          <p:cNvPr id="4" name="outcome-fill-176"/>
          <p:cNvSpPr/>
          <p:nvPr/>
        </p:nvSpPr>
        <p:spPr>
          <a:xfrm>
            <a:off x="6112966" y="419100"/>
            <a:ext cx="347166" cy="76200"/>
          </a:xfrm>
          <a:prstGeom prst="roundRect">
            <a:avLst>
              <a:gd name="adj" fmla="val 50000"/>
            </a:avLst>
          </a:prstGeom>
          <a:solidFill>
            <a:schemeClr val="tx1"/>
          </a:solidFill>
          <a:ln/>
        </p:spPr>
      </p:sp>
      <p:sp>
        <p:nvSpPr>
          <p:cNvPr id="5" name="outcome-fill-177"/>
          <p:cNvSpPr/>
          <p:nvPr/>
        </p:nvSpPr>
        <p:spPr>
          <a:xfrm>
            <a:off x="6510933" y="419100"/>
            <a:ext cx="347166" cy="76200"/>
          </a:xfrm>
          <a:prstGeom prst="roundRect">
            <a:avLst>
              <a:gd name="adj" fmla="val 50000"/>
            </a:avLst>
          </a:prstGeom>
          <a:solidFill>
            <a:schemeClr val="tx1"/>
          </a:solidFill>
          <a:ln/>
        </p:spPr>
      </p:sp>
      <p:sp>
        <p:nvSpPr>
          <p:cNvPr id="6" name="outcome-fill-178"/>
          <p:cNvSpPr/>
          <p:nvPr/>
        </p:nvSpPr>
        <p:spPr>
          <a:xfrm>
            <a:off x="6908899" y="419100"/>
            <a:ext cx="347166" cy="76200"/>
          </a:xfrm>
          <a:prstGeom prst="roundRect">
            <a:avLst>
              <a:gd name="adj" fmla="val 50000"/>
            </a:avLst>
          </a:prstGeom>
          <a:solidFill>
            <a:schemeClr val="tx1"/>
          </a:solidFill>
          <a:ln/>
        </p:spPr>
      </p:sp>
      <p:sp>
        <p:nvSpPr>
          <p:cNvPr id="7" name="outcome-fill-179"/>
          <p:cNvSpPr/>
          <p:nvPr/>
        </p:nvSpPr>
        <p:spPr>
          <a:xfrm>
            <a:off x="7306866" y="419100"/>
            <a:ext cx="347166" cy="76200"/>
          </a:xfrm>
          <a:prstGeom prst="roundRect">
            <a:avLst>
              <a:gd name="adj" fmla="val 50000"/>
            </a:avLst>
          </a:prstGeom>
          <a:solidFill>
            <a:schemeClr val="tx1"/>
          </a:solidFill>
          <a:ln/>
        </p:spPr>
      </p:sp>
      <p:sp>
        <p:nvSpPr>
          <p:cNvPr id="8" name="outcome-fill-180"/>
          <p:cNvSpPr/>
          <p:nvPr/>
        </p:nvSpPr>
        <p:spPr>
          <a:xfrm>
            <a:off x="7704832" y="419100"/>
            <a:ext cx="347166" cy="76200"/>
          </a:xfrm>
          <a:prstGeom prst="roundRect">
            <a:avLst>
              <a:gd name="adj" fmla="val 50000"/>
            </a:avLst>
          </a:prstGeom>
          <a:solidFill>
            <a:schemeClr val="tx1"/>
          </a:solidFill>
          <a:ln/>
        </p:spPr>
      </p:sp>
      <p:sp>
        <p:nvSpPr>
          <p:cNvPr id="9" name="outcome-fill-181"/>
          <p:cNvSpPr/>
          <p:nvPr/>
        </p:nvSpPr>
        <p:spPr>
          <a:xfrm>
            <a:off x="8102798" y="419100"/>
            <a:ext cx="347166" cy="76200"/>
          </a:xfrm>
          <a:prstGeom prst="roundRect">
            <a:avLst>
              <a:gd name="adj" fmla="val 50000"/>
            </a:avLst>
          </a:prstGeom>
          <a:solidFill>
            <a:schemeClr val="tx1"/>
          </a:solidFill>
          <a:ln/>
        </p:spPr>
      </p:sp>
      <p:sp>
        <p:nvSpPr>
          <p:cNvPr id="10" name="outcome-fill-182"/>
          <p:cNvSpPr/>
          <p:nvPr/>
        </p:nvSpPr>
        <p:spPr>
          <a:xfrm>
            <a:off x="8500765" y="419100"/>
            <a:ext cx="347166" cy="76200"/>
          </a:xfrm>
          <a:prstGeom prst="roundRect">
            <a:avLst>
              <a:gd name="adj" fmla="val 50000"/>
            </a:avLst>
          </a:prstGeom>
          <a:solidFill>
            <a:schemeClr val="accent1"/>
          </a:solidFill>
          <a:ln/>
        </p:spPr>
      </p:sp>
      <p:sp>
        <p:nvSpPr>
          <p:cNvPr id="11" name="outcome-box-183"/>
          <p:cNvSpPr/>
          <p:nvPr/>
        </p:nvSpPr>
        <p:spPr>
          <a:xfrm>
            <a:off x="8905081" y="425450"/>
            <a:ext cx="359866" cy="63500"/>
          </a:xfrm>
          <a:prstGeom prst="roundRect">
            <a:avLst>
              <a:gd name="adj" fmla="val 50000"/>
            </a:avLst>
          </a:prstGeom>
          <a:ln w="12700">
            <a:solidFill>
              <a:schemeClr val="tx1"/>
            </a:solidFill>
            <a:prstDash val="solid"/>
          </a:ln>
        </p:spPr>
      </p:sp>
      <p:sp>
        <p:nvSpPr>
          <p:cNvPr id="12" name="outcome-text-184"/>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tx1"/>
                </a:solidFill>
              </a:rPr>
              <a:t>XP Arena · 08</a:t>
            </a:r>
            <a:endParaRPr lang="en-US" sz="1800" dirty="0"/>
          </a:p>
        </p:txBody>
      </p:sp>
      <p:sp>
        <p:nvSpPr>
          <p:cNvPr id="13" name="Text 0"/>
          <p:cNvSpPr/>
          <p:nvPr>
            <p:ph idx="100" type="title" hasCustomPrompt="1"/>
          </p:nvPr>
        </p:nvSpPr>
        <p:spPr>
          <a:xfrm>
            <a:off x="812800" y="965200"/>
            <a:ext cx="10591800" cy="609600"/>
          </a:xfrm>
          <a:prstGeom prst="rect">
            <a:avLst/>
          </a:prstGeom>
          <a:noFill/>
          <a:ln/>
        </p:spPr>
        <p:txBody>
          <a:bodyPr wrap="square" lIns="0" tIns="0" rIns="0" bIns="0" rtlCol="0" anchor="t"/>
          <a:lstStyle/>
          <a:p>
            <a:pPr algn="l" indent="0" marL="0">
              <a:lnSpc>
                <a:spcPts val="4800"/>
              </a:lnSpc>
              <a:buNone/>
            </a:pPr>
            <a:r>
              <a:rPr lang="en-US" sz="4000" b="1" spc="-50" kern="0" dirty="0">
                <a:solidFill>
                  <a:schemeClr val="tx1"/>
                </a:solidFill>
                <a:latin typeface="+mj-lt" pitchFamily="34" charset="0"/>
                <a:ea typeface="+mj-lt" pitchFamily="34" charset="-122"/>
                <a:cs typeface="+mj-lt" pitchFamily="34" charset="-120"/>
              </a:rPr>
              <a:t>What we expect to see</a:t>
            </a:r>
            <a:endParaRPr lang="en-US" sz="4000" dirty="0"/>
          </a:p>
        </p:txBody>
      </p:sp>
      <p:sp>
        <p:nvSpPr>
          <p:cNvPr id="14" name="outcome-rule-186"/>
          <p:cNvSpPr/>
          <p:nvPr/>
        </p:nvSpPr>
        <p:spPr>
          <a:xfrm>
            <a:off x="812800" y="1930400"/>
            <a:ext cx="10566400" cy="25400"/>
          </a:xfrm>
          <a:prstGeom prst="rect">
            <a:avLst/>
          </a:prstGeom>
          <a:solidFill>
            <a:schemeClr val="tx1"/>
          </a:solidFill>
          <a:ln/>
        </p:spPr>
      </p:sp>
      <p:sp>
        <p:nvSpPr>
          <p:cNvPr id="15" name="outcome-rule-187"/>
          <p:cNvSpPr/>
          <p:nvPr/>
        </p:nvSpPr>
        <p:spPr>
          <a:xfrm>
            <a:off x="812800" y="3048000"/>
            <a:ext cx="10566400" cy="25400"/>
          </a:xfrm>
          <a:prstGeom prst="rect">
            <a:avLst/>
          </a:prstGeom>
          <a:solidFill>
            <a:schemeClr val="tx1"/>
          </a:solidFill>
          <a:ln/>
        </p:spPr>
      </p:sp>
      <p:sp>
        <p:nvSpPr>
          <p:cNvPr id="16" name="outcome-text-188"/>
          <p:cNvSpPr txBox="1"/>
          <p:nvPr/>
        </p:nvSpPr>
        <p:spPr>
          <a:xfrm>
            <a:off x="812800" y="2319040"/>
            <a:ext cx="2184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Knowledge</a:t>
            </a:r>
            <a:endParaRPr lang="en-US" sz="2400" dirty="0"/>
          </a:p>
        </p:txBody>
      </p:sp>
      <p:sp>
        <p:nvSpPr>
          <p:cNvPr id="17" name="outcome-text-189"/>
          <p:cNvSpPr txBox="1"/>
          <p:nvPr/>
        </p:nvSpPr>
        <p:spPr>
          <a:xfrm>
            <a:off x="3276600" y="2193330"/>
            <a:ext cx="61722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Learners correctly define and decode at least 80% of the target terms on a post-game quiz.</a:t>
            </a:r>
            <a:endParaRPr lang="en-US" sz="1800" dirty="0"/>
          </a:p>
        </p:txBody>
      </p:sp>
      <p:sp>
        <p:nvSpPr>
          <p:cNvPr id="18" name="outcome-text-190"/>
          <p:cNvSpPr txBox="1"/>
          <p:nvPr/>
        </p:nvSpPr>
        <p:spPr>
          <a:xfrm>
            <a:off x="9728200" y="2082800"/>
            <a:ext cx="1676400" cy="609600"/>
          </a:xfrm>
          <a:prstGeom prst="rect">
            <a:avLst/>
          </a:prstGeom>
          <a:noFill/>
          <a:ln/>
        </p:spPr>
        <p:txBody>
          <a:bodyPr wrap="none" lIns="0" tIns="0" rIns="0" bIns="0" rtlCol="0" anchor="t"/>
          <a:lstStyle/>
          <a:p>
            <a:pPr algn="l" indent="0" marL="0">
              <a:lnSpc>
                <a:spcPts val="4800"/>
              </a:lnSpc>
              <a:buNone/>
            </a:pPr>
            <a:r>
              <a:rPr lang="en-US" sz="4000" b="1" dirty="0">
                <a:solidFill>
                  <a:schemeClr val="accent1"/>
                </a:solidFill>
                <a:latin typeface="+mj-lt" pitchFamily="34" charset="0"/>
                <a:ea typeface="+mj-lt" pitchFamily="34" charset="-122"/>
                <a:cs typeface="+mj-lt" pitchFamily="34" charset="-120"/>
              </a:rPr>
              <a:t>80%</a:t>
            </a:r>
            <a:endParaRPr lang="en-US" sz="4000" dirty="0"/>
          </a:p>
        </p:txBody>
      </p:sp>
      <p:sp>
        <p:nvSpPr>
          <p:cNvPr id="19" name="outcome-box-191"/>
          <p:cNvSpPr/>
          <p:nvPr/>
        </p:nvSpPr>
        <p:spPr>
          <a:xfrm>
            <a:off x="9737725" y="2778125"/>
            <a:ext cx="1631950" cy="133350"/>
          </a:xfrm>
          <a:prstGeom prst="roundRect">
            <a:avLst>
              <a:gd name="adj" fmla="val 11905"/>
            </a:avLst>
          </a:prstGeom>
          <a:ln w="19050">
            <a:solidFill>
              <a:schemeClr val="tx1"/>
            </a:solidFill>
            <a:prstDash val="solid"/>
          </a:ln>
        </p:spPr>
      </p:sp>
      <p:sp>
        <p:nvSpPr>
          <p:cNvPr id="20" name="outcome-fill-192"/>
          <p:cNvSpPr/>
          <p:nvPr/>
        </p:nvSpPr>
        <p:spPr>
          <a:xfrm>
            <a:off x="9747250" y="2787650"/>
            <a:ext cx="1290241" cy="114300"/>
          </a:xfrm>
          <a:prstGeom prst="rect">
            <a:avLst/>
          </a:prstGeom>
          <a:solidFill>
            <a:schemeClr val="accent1"/>
          </a:solidFill>
          <a:ln/>
        </p:spPr>
      </p:sp>
      <p:sp>
        <p:nvSpPr>
          <p:cNvPr id="21" name="outcome-fill-193"/>
          <p:cNvSpPr/>
          <p:nvPr/>
        </p:nvSpPr>
        <p:spPr>
          <a:xfrm>
            <a:off x="11037491" y="2787650"/>
            <a:ext cx="322560" cy="114300"/>
          </a:xfrm>
          <a:prstGeom prst="rect">
            <a:avLst/>
          </a:prstGeom>
          <a:solidFill>
            <a:schemeClr val="bg1"/>
          </a:solidFill>
          <a:ln/>
        </p:spPr>
      </p:sp>
      <p:sp>
        <p:nvSpPr>
          <p:cNvPr id="22" name="outcome-rule-194"/>
          <p:cNvSpPr/>
          <p:nvPr/>
        </p:nvSpPr>
        <p:spPr>
          <a:xfrm>
            <a:off x="812800" y="3944541"/>
            <a:ext cx="10566400" cy="25400"/>
          </a:xfrm>
          <a:prstGeom prst="rect">
            <a:avLst/>
          </a:prstGeom>
          <a:solidFill>
            <a:schemeClr val="tx1"/>
          </a:solidFill>
          <a:ln/>
        </p:spPr>
      </p:sp>
      <p:sp>
        <p:nvSpPr>
          <p:cNvPr id="23" name="outcome-text-195"/>
          <p:cNvSpPr txBox="1"/>
          <p:nvPr/>
        </p:nvSpPr>
        <p:spPr>
          <a:xfrm>
            <a:off x="812800" y="3326110"/>
            <a:ext cx="2184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Skill</a:t>
            </a:r>
            <a:endParaRPr lang="en-US" sz="2400" dirty="0"/>
          </a:p>
        </p:txBody>
      </p:sp>
      <p:sp>
        <p:nvSpPr>
          <p:cNvPr id="24" name="outcome-text-196"/>
          <p:cNvSpPr txBox="1"/>
          <p:nvPr/>
        </p:nvSpPr>
        <p:spPr>
          <a:xfrm>
            <a:off x="3276600" y="3200400"/>
            <a:ext cx="81280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They break down terms they have never seen before, using the word parts they learned.</a:t>
            </a:r>
            <a:endParaRPr lang="en-US" sz="1800" dirty="0"/>
          </a:p>
        </p:txBody>
      </p:sp>
      <p:sp>
        <p:nvSpPr>
          <p:cNvPr id="25" name="outcome-rule-197"/>
          <p:cNvSpPr/>
          <p:nvPr/>
        </p:nvSpPr>
        <p:spPr>
          <a:xfrm>
            <a:off x="812800" y="4841081"/>
            <a:ext cx="10566400" cy="25400"/>
          </a:xfrm>
          <a:prstGeom prst="rect">
            <a:avLst/>
          </a:prstGeom>
          <a:solidFill>
            <a:schemeClr val="tx1"/>
          </a:solidFill>
          <a:ln/>
        </p:spPr>
      </p:sp>
      <p:sp>
        <p:nvSpPr>
          <p:cNvPr id="26" name="outcome-text-198"/>
          <p:cNvSpPr txBox="1"/>
          <p:nvPr/>
        </p:nvSpPr>
        <p:spPr>
          <a:xfrm>
            <a:off x="812800" y="4222651"/>
            <a:ext cx="2184400" cy="365720"/>
          </a:xfrm>
          <a:prstGeom prst="rect">
            <a:avLst/>
          </a:prstGeom>
          <a:noFill/>
          <a:ln/>
        </p:spPr>
        <p:txBody>
          <a:bodyPr wrap="square" lIns="0" tIns="0" rIns="0" bIns="0" rtlCol="0" anchor="t"/>
          <a:lstStyle/>
          <a:p>
            <a:pPr algn="l" indent="0" marL="0">
              <a:lnSpc>
                <a:spcPts val="2880"/>
              </a:lnSpc>
              <a:buNone/>
            </a:pPr>
            <a:r>
              <a:rPr lang="en-US" sz="2400" b="1" dirty="0">
                <a:solidFill>
                  <a:schemeClr val="tx1"/>
                </a:solidFill>
                <a:latin typeface="+mj-lt" pitchFamily="34" charset="0"/>
                <a:ea typeface="+mj-lt" pitchFamily="34" charset="-122"/>
                <a:cs typeface="+mj-lt" pitchFamily="34" charset="-120"/>
              </a:rPr>
              <a:t>Engagement</a:t>
            </a:r>
            <a:endParaRPr lang="en-US" sz="2400" dirty="0"/>
          </a:p>
        </p:txBody>
      </p:sp>
      <p:sp>
        <p:nvSpPr>
          <p:cNvPr id="27" name="outcome-text-199"/>
          <p:cNvSpPr txBox="1"/>
          <p:nvPr/>
        </p:nvSpPr>
        <p:spPr>
          <a:xfrm>
            <a:off x="3276600" y="4096941"/>
            <a:ext cx="8128000" cy="617141"/>
          </a:xfrm>
          <a:prstGeom prst="rect">
            <a:avLst/>
          </a:prstGeom>
          <a:noFill/>
          <a:ln/>
        </p:spPr>
        <p:txBody>
          <a:bodyPr wrap="square" lIns="0" tIns="0" rIns="0" bIns="0" rtlCol="0" anchor="t"/>
          <a:lstStyle/>
          <a:p>
            <a:pPr algn="l" indent="0" marL="0">
              <a:lnSpc>
                <a:spcPts val="2430"/>
              </a:lnSpc>
              <a:buNone/>
            </a:pPr>
            <a:r>
              <a:rPr lang="en-US" sz="1800" dirty="0">
                <a:solidFill>
                  <a:schemeClr val="tx1"/>
                </a:solidFill>
              </a:rPr>
              <a:t>More students answer every question, and many replay review rounds to earn coins.</a:t>
            </a:r>
            <a:endParaRPr lang="en-US" sz="1800" dirty="0"/>
          </a:p>
        </p:txBody>
      </p:sp>
      <p:sp>
        <p:nvSpPr>
          <p:cNvPr id="28" name="outcome-fill-200"/>
          <p:cNvSpPr/>
          <p:nvPr/>
        </p:nvSpPr>
        <p:spPr>
          <a:xfrm>
            <a:off x="812800" y="5120481"/>
            <a:ext cx="10566400" cy="1023541"/>
          </a:xfrm>
          <a:prstGeom prst="roundRect">
            <a:avLst>
              <a:gd name="adj" fmla="val 4963"/>
            </a:avLst>
          </a:prstGeom>
          <a:solidFill>
            <a:schemeClr val="tx1"/>
          </a:solidFill>
          <a:ln/>
        </p:spPr>
      </p:sp>
      <p:sp>
        <p:nvSpPr>
          <p:cNvPr id="29" name="outcome-text-201"/>
          <p:cNvSpPr txBox="1"/>
          <p:nvPr/>
        </p:nvSpPr>
        <p:spPr>
          <a:xfrm>
            <a:off x="1066800" y="5323681"/>
            <a:ext cx="10083800" cy="617141"/>
          </a:xfrm>
          <a:prstGeom prst="rect">
            <a:avLst/>
          </a:prstGeom>
          <a:noFill/>
          <a:ln/>
        </p:spPr>
        <p:txBody>
          <a:bodyPr wrap="square" lIns="0" tIns="0" rIns="0" bIns="0" rtlCol="0" anchor="t"/>
          <a:lstStyle/>
          <a:p>
            <a:pPr algn="l" indent="0" marL="0">
              <a:lnSpc>
                <a:spcPts val="2430"/>
              </a:lnSpc>
              <a:buNone/>
            </a:pPr>
            <a:r>
              <a:rPr lang="en-US" sz="1800" b="1" dirty="0">
                <a:solidFill>
                  <a:schemeClr val="bg1"/>
                </a:solidFill>
              </a:rPr>
              <a:t>Trade-off we planned for:</a:t>
            </a:r>
            <a:pPr algn="l" indent="0" marL="0">
              <a:lnSpc>
                <a:spcPts val="2430"/>
              </a:lnSpc>
              <a:buNone/>
            </a:pPr>
            <a:r>
              <a:rPr lang="en-US" sz="1800" dirty="0">
                <a:solidFill>
                  <a:schemeClr val="bg1"/>
                </a:solidFill>
              </a:rPr>
              <a:t> speed scoring can reward guessing, so the grade bonus is capped and each round ends with an untimed review question.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am-fill-202"/>
          <p:cNvSpPr/>
          <p:nvPr/>
        </p:nvSpPr>
        <p:spPr>
          <a:xfrm>
            <a:off x="5715000" y="419100"/>
            <a:ext cx="349945" cy="76200"/>
          </a:xfrm>
          <a:prstGeom prst="roundRect">
            <a:avLst>
              <a:gd name="adj" fmla="val 50000"/>
            </a:avLst>
          </a:prstGeom>
          <a:solidFill>
            <a:schemeClr val="bg1"/>
          </a:solidFill>
          <a:ln/>
        </p:spPr>
      </p:sp>
      <p:sp>
        <p:nvSpPr>
          <p:cNvPr id="3" name="team-fill-203"/>
          <p:cNvSpPr/>
          <p:nvPr/>
        </p:nvSpPr>
        <p:spPr>
          <a:xfrm>
            <a:off x="6115745" y="419100"/>
            <a:ext cx="349945" cy="76200"/>
          </a:xfrm>
          <a:prstGeom prst="roundRect">
            <a:avLst>
              <a:gd name="adj" fmla="val 50000"/>
            </a:avLst>
          </a:prstGeom>
          <a:solidFill>
            <a:schemeClr val="bg1"/>
          </a:solidFill>
          <a:ln/>
        </p:spPr>
      </p:sp>
      <p:sp>
        <p:nvSpPr>
          <p:cNvPr id="4" name="team-fill-204"/>
          <p:cNvSpPr/>
          <p:nvPr/>
        </p:nvSpPr>
        <p:spPr>
          <a:xfrm>
            <a:off x="6516489" y="419100"/>
            <a:ext cx="349945" cy="76200"/>
          </a:xfrm>
          <a:prstGeom prst="roundRect">
            <a:avLst>
              <a:gd name="adj" fmla="val 50000"/>
            </a:avLst>
          </a:prstGeom>
          <a:solidFill>
            <a:schemeClr val="bg1"/>
          </a:solidFill>
          <a:ln/>
        </p:spPr>
      </p:sp>
      <p:sp>
        <p:nvSpPr>
          <p:cNvPr id="5" name="team-fill-205"/>
          <p:cNvSpPr/>
          <p:nvPr/>
        </p:nvSpPr>
        <p:spPr>
          <a:xfrm>
            <a:off x="6917234" y="419100"/>
            <a:ext cx="349945" cy="76200"/>
          </a:xfrm>
          <a:prstGeom prst="roundRect">
            <a:avLst>
              <a:gd name="adj" fmla="val 50000"/>
            </a:avLst>
          </a:prstGeom>
          <a:solidFill>
            <a:schemeClr val="bg1"/>
          </a:solidFill>
          <a:ln/>
        </p:spPr>
      </p:sp>
      <p:sp>
        <p:nvSpPr>
          <p:cNvPr id="6" name="team-fill-206"/>
          <p:cNvSpPr/>
          <p:nvPr/>
        </p:nvSpPr>
        <p:spPr>
          <a:xfrm>
            <a:off x="7317978" y="419100"/>
            <a:ext cx="349945" cy="76200"/>
          </a:xfrm>
          <a:prstGeom prst="roundRect">
            <a:avLst>
              <a:gd name="adj" fmla="val 50000"/>
            </a:avLst>
          </a:prstGeom>
          <a:solidFill>
            <a:schemeClr val="bg1"/>
          </a:solidFill>
          <a:ln/>
        </p:spPr>
      </p:sp>
      <p:sp>
        <p:nvSpPr>
          <p:cNvPr id="7" name="team-fill-207"/>
          <p:cNvSpPr/>
          <p:nvPr/>
        </p:nvSpPr>
        <p:spPr>
          <a:xfrm>
            <a:off x="7718723" y="419100"/>
            <a:ext cx="349945" cy="76200"/>
          </a:xfrm>
          <a:prstGeom prst="roundRect">
            <a:avLst>
              <a:gd name="adj" fmla="val 50000"/>
            </a:avLst>
          </a:prstGeom>
          <a:solidFill>
            <a:schemeClr val="bg1"/>
          </a:solidFill>
          <a:ln/>
        </p:spPr>
      </p:sp>
      <p:sp>
        <p:nvSpPr>
          <p:cNvPr id="8" name="team-fill-208"/>
          <p:cNvSpPr/>
          <p:nvPr/>
        </p:nvSpPr>
        <p:spPr>
          <a:xfrm>
            <a:off x="8119467" y="419100"/>
            <a:ext cx="349945" cy="76200"/>
          </a:xfrm>
          <a:prstGeom prst="roundRect">
            <a:avLst>
              <a:gd name="adj" fmla="val 50000"/>
            </a:avLst>
          </a:prstGeom>
          <a:solidFill>
            <a:schemeClr val="bg1"/>
          </a:solidFill>
          <a:ln/>
        </p:spPr>
      </p:sp>
      <p:sp>
        <p:nvSpPr>
          <p:cNvPr id="9" name="team-fill-209"/>
          <p:cNvSpPr/>
          <p:nvPr/>
        </p:nvSpPr>
        <p:spPr>
          <a:xfrm>
            <a:off x="8520212" y="419100"/>
            <a:ext cx="349945" cy="76200"/>
          </a:xfrm>
          <a:prstGeom prst="roundRect">
            <a:avLst>
              <a:gd name="adj" fmla="val 50000"/>
            </a:avLst>
          </a:prstGeom>
          <a:solidFill>
            <a:schemeClr val="bg1"/>
          </a:solidFill>
          <a:ln/>
        </p:spPr>
      </p:sp>
      <p:sp>
        <p:nvSpPr>
          <p:cNvPr id="10" name="team-fill-210"/>
          <p:cNvSpPr/>
          <p:nvPr/>
        </p:nvSpPr>
        <p:spPr>
          <a:xfrm>
            <a:off x="8920956" y="419100"/>
            <a:ext cx="349945" cy="76200"/>
          </a:xfrm>
          <a:prstGeom prst="roundRect">
            <a:avLst>
              <a:gd name="adj" fmla="val 50000"/>
            </a:avLst>
          </a:prstGeom>
          <a:solidFill>
            <a:schemeClr val="bg1"/>
          </a:solidFill>
          <a:ln/>
        </p:spPr>
      </p:sp>
      <p:sp>
        <p:nvSpPr>
          <p:cNvPr id="11" name="team-text-211"/>
          <p:cNvSpPr txBox="1"/>
          <p:nvPr/>
        </p:nvSpPr>
        <p:spPr>
          <a:xfrm>
            <a:off x="9448800" y="304800"/>
            <a:ext cx="1930400" cy="297160"/>
          </a:xfrm>
          <a:prstGeom prst="rect">
            <a:avLst/>
          </a:prstGeom>
          <a:noFill/>
          <a:ln/>
        </p:spPr>
        <p:txBody>
          <a:bodyPr wrap="square" lIns="0" tIns="0" rIns="0" bIns="0" rtlCol="0" anchor="t"/>
          <a:lstStyle/>
          <a:p>
            <a:pPr algn="r" indent="0" marL="0">
              <a:lnSpc>
                <a:spcPts val="2340"/>
              </a:lnSpc>
              <a:buNone/>
            </a:pPr>
            <a:r>
              <a:rPr lang="en-US" sz="1800" dirty="0">
                <a:solidFill>
                  <a:schemeClr val="bg1"/>
                </a:solidFill>
              </a:rPr>
              <a:t>XP Arena · 09</a:t>
            </a:r>
            <a:endParaRPr lang="en-US" sz="1800" dirty="0"/>
          </a:p>
        </p:txBody>
      </p:sp>
      <p:sp>
        <p:nvSpPr>
          <p:cNvPr id="12" name="team-text-212"/>
          <p:cNvSpPr txBox="1"/>
          <p:nvPr/>
        </p:nvSpPr>
        <p:spPr>
          <a:xfrm>
            <a:off x="5124351" y="2106910"/>
            <a:ext cx="1943298" cy="297160"/>
          </a:xfrm>
          <a:prstGeom prst="rect">
            <a:avLst/>
          </a:prstGeom>
          <a:noFill/>
          <a:ln/>
        </p:spPr>
        <p:txBody>
          <a:bodyPr wrap="square" lIns="0" tIns="0" rIns="0" bIns="0" rtlCol="0" anchor="t"/>
          <a:lstStyle/>
          <a:p>
            <a:pPr algn="ctr" indent="0" marL="0">
              <a:lnSpc>
                <a:spcPts val="2340"/>
              </a:lnSpc>
              <a:buNone/>
            </a:pPr>
            <a:r>
              <a:rPr lang="en-US" sz="1800" b="1" spc="100" kern="0" dirty="0">
                <a:solidFill>
                  <a:schemeClr val="bg1"/>
                </a:solidFill>
              </a:rPr>
              <a:t>Group Members</a:t>
            </a:r>
            <a:endParaRPr lang="en-US" sz="1800" dirty="0"/>
          </a:p>
        </p:txBody>
      </p:sp>
      <p:sp>
        <p:nvSpPr>
          <p:cNvPr id="13" name="Text 0"/>
          <p:cNvSpPr/>
          <p:nvPr>
            <p:ph idx="100" type="title" hasCustomPrompt="1"/>
          </p:nvPr>
        </p:nvSpPr>
        <p:spPr>
          <a:xfrm>
            <a:off x="812800" y="2505670"/>
            <a:ext cx="10566400" cy="1219200"/>
          </a:xfrm>
          <a:prstGeom prst="rect">
            <a:avLst/>
          </a:prstGeom>
          <a:noFill/>
          <a:ln/>
        </p:spPr>
        <p:txBody>
          <a:bodyPr wrap="square" lIns="0" tIns="0" rIns="0" bIns="0" rtlCol="0" anchor="t"/>
          <a:lstStyle/>
          <a:p>
            <a:pPr algn="ctr" indent="0" marL="0">
              <a:lnSpc>
                <a:spcPts val="9600"/>
              </a:lnSpc>
              <a:buNone/>
            </a:pPr>
            <a:r>
              <a:rPr lang="en-US" sz="8000" b="1" spc="-200" kern="0" dirty="0">
                <a:solidFill>
                  <a:schemeClr val="bg1"/>
                </a:solidFill>
                <a:latin typeface="+mj-lt" pitchFamily="34" charset="0"/>
                <a:ea typeface="+mj-lt" pitchFamily="34" charset="-122"/>
                <a:cs typeface="+mj-lt" pitchFamily="34" charset="-120"/>
              </a:rPr>
              <a:t>Thank You</a:t>
            </a:r>
            <a:endParaRPr lang="en-US" sz="8000" dirty="0"/>
          </a:p>
        </p:txBody>
      </p:sp>
      <p:sp>
        <p:nvSpPr>
          <p:cNvPr id="14" name="team-shadow-214"/>
          <p:cNvSpPr/>
          <p:nvPr/>
        </p:nvSpPr>
        <p:spPr>
          <a:xfrm>
            <a:off x="876300" y="4245570"/>
            <a:ext cx="1950740" cy="822920"/>
          </a:xfrm>
          <a:prstGeom prst="roundRect">
            <a:avLst>
              <a:gd name="adj" fmla="val 6173"/>
            </a:avLst>
          </a:prstGeom>
          <a:solidFill>
            <a:schemeClr val="accent1"/>
          </a:solidFill>
          <a:ln/>
        </p:spPr>
      </p:sp>
      <p:sp>
        <p:nvSpPr>
          <p:cNvPr id="15" name="team-box-214"/>
          <p:cNvSpPr/>
          <p:nvPr/>
        </p:nvSpPr>
        <p:spPr>
          <a:xfrm>
            <a:off x="825500" y="4194770"/>
            <a:ext cx="1925340" cy="797520"/>
          </a:xfrm>
          <a:prstGeom prst="roundRect">
            <a:avLst>
              <a:gd name="adj" fmla="val 4777"/>
            </a:avLst>
          </a:prstGeom>
          <a:solidFill>
            <a:schemeClr val="tx1"/>
          </a:solidFill>
          <a:ln w="25400">
            <a:solidFill>
              <a:schemeClr val="bg1"/>
            </a:solidFill>
            <a:prstDash val="solid"/>
          </a:ln>
        </p:spPr>
      </p:sp>
      <p:sp>
        <p:nvSpPr>
          <p:cNvPr id="16" name="team-text-215"/>
          <p:cNvSpPr txBox="1"/>
          <p:nvPr/>
        </p:nvSpPr>
        <p:spPr>
          <a:xfrm>
            <a:off x="927100" y="4410670"/>
            <a:ext cx="1722140" cy="365720"/>
          </a:xfrm>
          <a:prstGeom prst="rect">
            <a:avLst/>
          </a:prstGeom>
          <a:noFill/>
          <a:ln/>
        </p:spPr>
        <p:txBody>
          <a:bodyPr wrap="square" lIns="0" tIns="0" rIns="0" bIns="0" rtlCol="0" anchor="t"/>
          <a:lstStyle/>
          <a:p>
            <a:pPr algn="ctr" indent="0" marL="0">
              <a:lnSpc>
                <a:spcPts val="2880"/>
              </a:lnSpc>
              <a:buNone/>
            </a:pPr>
            <a:r>
              <a:rPr lang="en-US" sz="2400" b="1" dirty="0">
                <a:solidFill>
                  <a:schemeClr val="bg1"/>
                </a:solidFill>
                <a:latin typeface="+mj-lt" pitchFamily="34" charset="0"/>
                <a:ea typeface="+mj-lt" pitchFamily="34" charset="-122"/>
                <a:cs typeface="+mj-lt" pitchFamily="34" charset="-120"/>
              </a:rPr>
              <a:t>Lasala</a:t>
            </a:r>
            <a:endParaRPr lang="en-US" sz="2400" dirty="0"/>
          </a:p>
        </p:txBody>
      </p:sp>
      <p:sp>
        <p:nvSpPr>
          <p:cNvPr id="17" name="team-shadow-216"/>
          <p:cNvSpPr/>
          <p:nvPr/>
        </p:nvSpPr>
        <p:spPr>
          <a:xfrm>
            <a:off x="3030240" y="4245570"/>
            <a:ext cx="1950740" cy="822920"/>
          </a:xfrm>
          <a:prstGeom prst="roundRect">
            <a:avLst>
              <a:gd name="adj" fmla="val 6173"/>
            </a:avLst>
          </a:prstGeom>
          <a:solidFill>
            <a:schemeClr val="accent1"/>
          </a:solidFill>
          <a:ln/>
        </p:spPr>
      </p:sp>
      <p:sp>
        <p:nvSpPr>
          <p:cNvPr id="18" name="team-box-216"/>
          <p:cNvSpPr/>
          <p:nvPr/>
        </p:nvSpPr>
        <p:spPr>
          <a:xfrm>
            <a:off x="2979440" y="4194770"/>
            <a:ext cx="1925340" cy="797520"/>
          </a:xfrm>
          <a:prstGeom prst="roundRect">
            <a:avLst>
              <a:gd name="adj" fmla="val 4777"/>
            </a:avLst>
          </a:prstGeom>
          <a:solidFill>
            <a:schemeClr val="tx1"/>
          </a:solidFill>
          <a:ln w="25400">
            <a:solidFill>
              <a:schemeClr val="bg1"/>
            </a:solidFill>
            <a:prstDash val="solid"/>
          </a:ln>
        </p:spPr>
      </p:sp>
      <p:sp>
        <p:nvSpPr>
          <p:cNvPr id="19" name="team-text-217"/>
          <p:cNvSpPr txBox="1"/>
          <p:nvPr/>
        </p:nvSpPr>
        <p:spPr>
          <a:xfrm>
            <a:off x="3081040" y="4410670"/>
            <a:ext cx="1722140" cy="365720"/>
          </a:xfrm>
          <a:prstGeom prst="rect">
            <a:avLst/>
          </a:prstGeom>
          <a:noFill/>
          <a:ln/>
        </p:spPr>
        <p:txBody>
          <a:bodyPr wrap="square" lIns="0" tIns="0" rIns="0" bIns="0" rtlCol="0" anchor="t"/>
          <a:lstStyle/>
          <a:p>
            <a:pPr algn="ctr" indent="0" marL="0">
              <a:lnSpc>
                <a:spcPts val="2880"/>
              </a:lnSpc>
              <a:buNone/>
            </a:pPr>
            <a:r>
              <a:rPr lang="en-US" sz="2400" b="1" dirty="0">
                <a:solidFill>
                  <a:schemeClr val="bg1"/>
                </a:solidFill>
                <a:latin typeface="+mj-lt" pitchFamily="34" charset="0"/>
                <a:ea typeface="+mj-lt" pitchFamily="34" charset="-122"/>
                <a:cs typeface="+mj-lt" pitchFamily="34" charset="-120"/>
              </a:rPr>
              <a:t>Jomoc</a:t>
            </a:r>
            <a:endParaRPr lang="en-US" sz="2400" dirty="0"/>
          </a:p>
        </p:txBody>
      </p:sp>
      <p:sp>
        <p:nvSpPr>
          <p:cNvPr id="20" name="team-shadow-218"/>
          <p:cNvSpPr/>
          <p:nvPr/>
        </p:nvSpPr>
        <p:spPr>
          <a:xfrm>
            <a:off x="5184180" y="4245570"/>
            <a:ext cx="1950740" cy="822920"/>
          </a:xfrm>
          <a:prstGeom prst="roundRect">
            <a:avLst>
              <a:gd name="adj" fmla="val 6173"/>
            </a:avLst>
          </a:prstGeom>
          <a:solidFill>
            <a:schemeClr val="accent1"/>
          </a:solidFill>
          <a:ln/>
        </p:spPr>
      </p:sp>
      <p:sp>
        <p:nvSpPr>
          <p:cNvPr id="21" name="team-box-218"/>
          <p:cNvSpPr/>
          <p:nvPr/>
        </p:nvSpPr>
        <p:spPr>
          <a:xfrm>
            <a:off x="5133380" y="4194770"/>
            <a:ext cx="1925340" cy="797520"/>
          </a:xfrm>
          <a:prstGeom prst="roundRect">
            <a:avLst>
              <a:gd name="adj" fmla="val 4777"/>
            </a:avLst>
          </a:prstGeom>
          <a:solidFill>
            <a:schemeClr val="tx1"/>
          </a:solidFill>
          <a:ln w="25400">
            <a:solidFill>
              <a:schemeClr val="bg1"/>
            </a:solidFill>
            <a:prstDash val="solid"/>
          </a:ln>
        </p:spPr>
      </p:sp>
      <p:sp>
        <p:nvSpPr>
          <p:cNvPr id="22" name="team-text-219"/>
          <p:cNvSpPr txBox="1"/>
          <p:nvPr/>
        </p:nvSpPr>
        <p:spPr>
          <a:xfrm>
            <a:off x="5234980" y="4410670"/>
            <a:ext cx="1722140" cy="365720"/>
          </a:xfrm>
          <a:prstGeom prst="rect">
            <a:avLst/>
          </a:prstGeom>
          <a:noFill/>
          <a:ln/>
        </p:spPr>
        <p:txBody>
          <a:bodyPr wrap="square" lIns="0" tIns="0" rIns="0" bIns="0" rtlCol="0" anchor="t"/>
          <a:lstStyle/>
          <a:p>
            <a:pPr algn="ctr" indent="0" marL="0">
              <a:lnSpc>
                <a:spcPts val="2880"/>
              </a:lnSpc>
              <a:buNone/>
            </a:pPr>
            <a:r>
              <a:rPr lang="en-US" sz="2400" b="1" dirty="0">
                <a:solidFill>
                  <a:schemeClr val="bg1"/>
                </a:solidFill>
                <a:latin typeface="+mj-lt" pitchFamily="34" charset="0"/>
                <a:ea typeface="+mj-lt" pitchFamily="34" charset="-122"/>
                <a:cs typeface="+mj-lt" pitchFamily="34" charset="-120"/>
              </a:rPr>
              <a:t>David</a:t>
            </a:r>
            <a:endParaRPr lang="en-US" sz="2400" dirty="0"/>
          </a:p>
        </p:txBody>
      </p:sp>
      <p:sp>
        <p:nvSpPr>
          <p:cNvPr id="23" name="team-shadow-220"/>
          <p:cNvSpPr/>
          <p:nvPr/>
        </p:nvSpPr>
        <p:spPr>
          <a:xfrm>
            <a:off x="7338120" y="4245570"/>
            <a:ext cx="1950740" cy="822920"/>
          </a:xfrm>
          <a:prstGeom prst="roundRect">
            <a:avLst>
              <a:gd name="adj" fmla="val 6173"/>
            </a:avLst>
          </a:prstGeom>
          <a:solidFill>
            <a:schemeClr val="accent1"/>
          </a:solidFill>
          <a:ln/>
        </p:spPr>
      </p:sp>
      <p:sp>
        <p:nvSpPr>
          <p:cNvPr id="24" name="team-box-220"/>
          <p:cNvSpPr/>
          <p:nvPr/>
        </p:nvSpPr>
        <p:spPr>
          <a:xfrm>
            <a:off x="7287320" y="4194770"/>
            <a:ext cx="1925340" cy="797520"/>
          </a:xfrm>
          <a:prstGeom prst="roundRect">
            <a:avLst>
              <a:gd name="adj" fmla="val 4777"/>
            </a:avLst>
          </a:prstGeom>
          <a:solidFill>
            <a:schemeClr val="tx1"/>
          </a:solidFill>
          <a:ln w="25400">
            <a:solidFill>
              <a:schemeClr val="bg1"/>
            </a:solidFill>
            <a:prstDash val="solid"/>
          </a:ln>
        </p:spPr>
      </p:sp>
      <p:sp>
        <p:nvSpPr>
          <p:cNvPr id="25" name="team-text-221"/>
          <p:cNvSpPr txBox="1"/>
          <p:nvPr/>
        </p:nvSpPr>
        <p:spPr>
          <a:xfrm>
            <a:off x="7388920" y="4410670"/>
            <a:ext cx="1722140" cy="365720"/>
          </a:xfrm>
          <a:prstGeom prst="rect">
            <a:avLst/>
          </a:prstGeom>
          <a:noFill/>
          <a:ln/>
        </p:spPr>
        <p:txBody>
          <a:bodyPr wrap="square" lIns="0" tIns="0" rIns="0" bIns="0" rtlCol="0" anchor="t"/>
          <a:lstStyle/>
          <a:p>
            <a:pPr algn="ctr" indent="0" marL="0">
              <a:lnSpc>
                <a:spcPts val="2880"/>
              </a:lnSpc>
              <a:buNone/>
            </a:pPr>
            <a:r>
              <a:rPr lang="en-US" sz="2400" b="1" dirty="0">
                <a:solidFill>
                  <a:schemeClr val="bg1"/>
                </a:solidFill>
                <a:latin typeface="+mj-lt" pitchFamily="34" charset="0"/>
                <a:ea typeface="+mj-lt" pitchFamily="34" charset="-122"/>
                <a:cs typeface="+mj-lt" pitchFamily="34" charset="-120"/>
              </a:rPr>
              <a:t>Ausan</a:t>
            </a:r>
            <a:endParaRPr lang="en-US" sz="2400" dirty="0"/>
          </a:p>
        </p:txBody>
      </p:sp>
      <p:sp>
        <p:nvSpPr>
          <p:cNvPr id="26" name="team-shadow-222"/>
          <p:cNvSpPr/>
          <p:nvPr/>
        </p:nvSpPr>
        <p:spPr>
          <a:xfrm>
            <a:off x="9492059" y="4245570"/>
            <a:ext cx="1950740" cy="822920"/>
          </a:xfrm>
          <a:prstGeom prst="roundRect">
            <a:avLst>
              <a:gd name="adj" fmla="val 6173"/>
            </a:avLst>
          </a:prstGeom>
          <a:solidFill>
            <a:schemeClr val="accent1"/>
          </a:solidFill>
          <a:ln/>
        </p:spPr>
      </p:sp>
      <p:sp>
        <p:nvSpPr>
          <p:cNvPr id="27" name="team-box-222"/>
          <p:cNvSpPr/>
          <p:nvPr/>
        </p:nvSpPr>
        <p:spPr>
          <a:xfrm>
            <a:off x="9441259" y="4194770"/>
            <a:ext cx="1925340" cy="797520"/>
          </a:xfrm>
          <a:prstGeom prst="roundRect">
            <a:avLst>
              <a:gd name="adj" fmla="val 4777"/>
            </a:avLst>
          </a:prstGeom>
          <a:solidFill>
            <a:schemeClr val="tx1"/>
          </a:solidFill>
          <a:ln w="25400">
            <a:solidFill>
              <a:schemeClr val="bg1"/>
            </a:solidFill>
            <a:prstDash val="solid"/>
          </a:ln>
        </p:spPr>
      </p:sp>
      <p:sp>
        <p:nvSpPr>
          <p:cNvPr id="28" name="team-text-223"/>
          <p:cNvSpPr txBox="1"/>
          <p:nvPr/>
        </p:nvSpPr>
        <p:spPr>
          <a:xfrm>
            <a:off x="9542859" y="4410670"/>
            <a:ext cx="1722140" cy="365720"/>
          </a:xfrm>
          <a:prstGeom prst="rect">
            <a:avLst/>
          </a:prstGeom>
          <a:noFill/>
          <a:ln/>
        </p:spPr>
        <p:txBody>
          <a:bodyPr wrap="square" lIns="0" tIns="0" rIns="0" bIns="0" rtlCol="0" anchor="t"/>
          <a:lstStyle/>
          <a:p>
            <a:pPr algn="ctr" indent="0" marL="0">
              <a:lnSpc>
                <a:spcPts val="2880"/>
              </a:lnSpc>
              <a:buNone/>
            </a:pPr>
            <a:r>
              <a:rPr lang="en-US" sz="2400" b="1" dirty="0">
                <a:solidFill>
                  <a:schemeClr val="bg1"/>
                </a:solidFill>
                <a:latin typeface="+mj-lt" pitchFamily="34" charset="0"/>
                <a:ea typeface="+mj-lt" pitchFamily="34" charset="-122"/>
                <a:cs typeface="+mj-lt" pitchFamily="34" charset="-120"/>
              </a:rPr>
              <a:t>Mayam</a:t>
            </a:r>
            <a:endParaRPr lang="en-US" sz="2400" dirty="0"/>
          </a:p>
        </p:txBody>
      </p:sp>
    </p:spTree>
  </p:cSld>
  <p:clrMapOvr>
    <a:masterClrMapping/>
  </p:clrMapOvr>
</p:sld>
</file>

<file path=ppt/theme/theme1.xml><?xml version="1.0" encoding="utf-8"?>
<a:theme xmlns:a="http://schemas.openxmlformats.org/drawingml/2006/main" name="XP Arena">
  <a:themeElements>
    <a:clrScheme name="XP Arena">
      <a:dk1>
        <a:srgbClr val="16141F"/>
      </a:dk1>
      <a:lt1>
        <a:srgbClr val="F4F1E8"/>
      </a:lt1>
      <a:dk2>
        <a:srgbClr val="16141F"/>
      </a:dk2>
      <a:lt2>
        <a:srgbClr val="F4F1E8"/>
      </a:lt2>
      <a:accent1>
        <a:srgbClr val="5236E0"/>
      </a:accent1>
      <a:accent2>
        <a:srgbClr val="16141F"/>
      </a:accent2>
      <a:accent3>
        <a:srgbClr val="F4F1E8"/>
      </a:accent3>
      <a:accent4>
        <a:srgbClr val="5236E0"/>
      </a:accent4>
      <a:accent5>
        <a:srgbClr val="16141F"/>
      </a:accent5>
      <a:accent6>
        <a:srgbClr val="F4F1E8"/>
      </a:accent6>
      <a:hlink>
        <a:srgbClr val="5236E0"/>
      </a:hlink>
      <a:folHlink>
        <a:srgbClr val="16141F"/>
      </a:folHlink>
    </a:clrScheme>
    <a:fontScheme name="XP Arena">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 Arena: Design a GBL Idea</dc:title>
  <dc:subject>PptxGenJS Presentation</dc:subject>
  <dc:creator>Lasala, Jomoc, David, Ausan, Mayam</dc:creator>
  <cp:lastModifiedBy>Lasala, Jomoc, David, Ausan, Mayam</cp:lastModifiedBy>
  <cp:revision>1</cp:revision>
  <dcterms:created xsi:type="dcterms:W3CDTF">2026-10-15T03:00:00Z</dcterms:created>
  <dcterms:modified xsi:type="dcterms:W3CDTF">2026-10-15T03:00:00Z</dcterms:modified>
</cp:coreProperties>
</file>